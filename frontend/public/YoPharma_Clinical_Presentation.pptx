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914400"/>
            <a:ext cx="9144000" cy="365760"/>
          </a:xfrm>
          <a:prstGeom prst="rect">
            <a:avLst/>
          </a:prstGeom>
          <a:noFill/>
          <a:ln/>
        </p:spPr>
        <p:txBody>
          <a:bodyPr wrap="square" rtlCol="0" anchor="ctr"/>
          <a:lstStyle/>
          <a:p>
            <a:pPr indent="0" marL="0">
              <a:buNone/>
            </a:pPr>
            <a:r>
              <a:rPr lang="en-US" sz="1100" b="1" dirty="0">
                <a:solidFill>
                  <a:srgbClr val="5EEAD4"/>
                </a:solidFill>
                <a:latin typeface="Arial" pitchFamily="34" charset="0"/>
                <a:ea typeface="Arial" pitchFamily="34" charset="-122"/>
                <a:cs typeface="Arial" pitchFamily="34" charset="-120"/>
              </a:rPr>
              <a:t>ACADEMIC CLINICAL PHARMACY PLATFORM</a:t>
            </a:r>
            <a:endParaRPr lang="en-US" sz="1100" dirty="0"/>
          </a:p>
        </p:txBody>
      </p:sp>
      <p:sp>
        <p:nvSpPr>
          <p:cNvPr id="3" name="Text 1"/>
          <p:cNvSpPr/>
          <p:nvPr/>
        </p:nvSpPr>
        <p:spPr>
          <a:xfrm>
            <a:off x="914400" y="1371600"/>
            <a:ext cx="10332720" cy="10058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YoPharma — الشرح الشامل لواجهات ومميزات المنصة</a:t>
            </a:r>
            <a:endParaRPr lang="en-US" sz="3200" dirty="0"/>
          </a:p>
        </p:txBody>
      </p:sp>
      <p:sp>
        <p:nvSpPr>
          <p:cNvPr id="4" name="Text 2"/>
          <p:cNvSpPr/>
          <p:nvPr/>
        </p:nvSpPr>
        <p:spPr>
          <a:xfrm>
            <a:off x="914400" y="2377440"/>
            <a:ext cx="10332720" cy="731520"/>
          </a:xfrm>
          <a:prstGeom prst="rect">
            <a:avLst/>
          </a:prstGeom>
          <a:noFill/>
          <a:ln/>
        </p:spPr>
        <p:txBody>
          <a:bodyPr wrap="square" rtlCol="0" anchor="ctr"/>
          <a:lstStyle/>
          <a:p>
            <a:pPr indent="0" marL="0">
              <a:buNone/>
            </a:pPr>
            <a:r>
              <a:rPr lang="en-US" sz="1500" dirty="0">
                <a:solidFill>
                  <a:srgbClr val="94A3B8"/>
                </a:solidFill>
                <a:latin typeface="Arial" pitchFamily="34" charset="0"/>
                <a:ea typeface="Arial" pitchFamily="34" charset="-122"/>
                <a:cs typeface="Arial" pitchFamily="34" charset="-120"/>
              </a:rPr>
              <a:t>دليل تشريحي لكل خانة وواجهة في الموقع: المشكلة السريرية، طريقة الحل، وعناصر التحكم والأسهم</a:t>
            </a:r>
            <a:endParaRPr lang="en-US" sz="1500" dirty="0"/>
          </a:p>
        </p:txBody>
      </p:sp>
      <p:sp>
        <p:nvSpPr>
          <p:cNvPr id="5" name="Shape 3"/>
          <p:cNvSpPr/>
          <p:nvPr/>
        </p:nvSpPr>
        <p:spPr>
          <a:xfrm>
            <a:off x="914400" y="3474720"/>
            <a:ext cx="10332720" cy="2468880"/>
          </a:xfrm>
          <a:prstGeom prst="roundRect">
            <a:avLst>
              <a:gd name="adj" fmla="val 4444"/>
            </a:avLst>
          </a:prstGeom>
          <a:solidFill>
            <a:srgbClr val="1E293B"/>
          </a:solidFill>
          <a:ln w="12700">
            <a:solidFill>
              <a:srgbClr val="334155"/>
            </a:solidFill>
            <a:prstDash val="solid"/>
          </a:ln>
        </p:spPr>
      </p:sp>
      <p:sp>
        <p:nvSpPr>
          <p:cNvPr id="6" name="Text 4"/>
          <p:cNvSpPr/>
          <p:nvPr/>
        </p:nvSpPr>
        <p:spPr>
          <a:xfrm>
            <a:off x="1188720" y="3657600"/>
            <a:ext cx="9784080" cy="2103120"/>
          </a:xfrm>
          <a:prstGeom prst="rect">
            <a:avLst/>
          </a:prstGeom>
          <a:noFill/>
          <a:ln/>
        </p:spPr>
        <p:txBody>
          <a:bodyPr wrap="square" rtlCol="0" anchor="ctr"/>
          <a:lstStyle/>
          <a:p>
            <a:pPr indent="0" marL="0">
              <a:lnSpc>
                <a:spcPts val="1700"/>
              </a:lnSpc>
              <a:buNone/>
            </a:pPr>
            <a:r>
              <a:rPr lang="en-US" sz="1300" b="1" dirty="0">
                <a:solidFill>
                  <a:srgbClr val="5EEAD4"/>
                </a:solidFill>
                <a:latin typeface="Arial" pitchFamily="34" charset="0"/>
                <a:ea typeface="Arial" pitchFamily="34" charset="-122"/>
                <a:cs typeface="Arial" pitchFamily="34" charset="-120"/>
              </a:rPr>
              <a:t>🏥 الوحدات والواجهات المغطاة في هذا العرض:
</a:t>
            </a:r>
            <a:pPr indent="0" marL="0">
              <a:lnSpc>
                <a:spcPts val="1700"/>
              </a:lnSpc>
              <a:buNone/>
            </a:pPr>
            <a:r>
              <a:rPr lang="en-US" sz="1100" dirty="0">
                <a:solidFill>
                  <a:srgbClr val="FFFFFF"/>
                </a:solidFill>
                <a:latin typeface="Arial" pitchFamily="34" charset="0"/>
                <a:ea typeface="Arial" pitchFamily="34" charset="-122"/>
                <a:cs typeface="Arial" pitchFamily="34" charset="-120"/>
              </a:rPr>
              <a:t>1. الصفحة الرئيسية وشريط الأوامر السريع (Quick Clinical Command Bar)
</a:t>
            </a:r>
            <a:pPr indent="0" marL="0">
              <a:lnSpc>
                <a:spcPts val="1700"/>
              </a:lnSpc>
              <a:buNone/>
            </a:pPr>
            <a:r>
              <a:rPr lang="en-US" sz="1100" dirty="0">
                <a:solidFill>
                  <a:srgbClr val="FFFFFF"/>
                </a:solidFill>
                <a:latin typeface="Arial" pitchFamily="34" charset="0"/>
                <a:ea typeface="Arial" pitchFamily="34" charset="-122"/>
                <a:cs typeface="Arial" pitchFamily="34" charset="-120"/>
              </a:rPr>
              <a:t>2. سلة الروشتة التفاعلية وفحص التداخلات الدوائية (Drug-Drug Matrix &amp; Triage)
</a:t>
            </a:r>
            <a:pPr indent="0" marL="0">
              <a:lnSpc>
                <a:spcPts val="1700"/>
              </a:lnSpc>
              <a:buNone/>
            </a:pPr>
            <a:r>
              <a:rPr lang="en-US" sz="1100" dirty="0">
                <a:solidFill>
                  <a:srgbClr val="FFFFFF"/>
                </a:solidFill>
                <a:latin typeface="Arial" pitchFamily="34" charset="0"/>
                <a:ea typeface="Arial" pitchFamily="34" charset="-122"/>
                <a:cs typeface="Arial" pitchFamily="34" charset="-120"/>
              </a:rPr>
              <a:t>3. تفاعلات الأغذية وتوقيت الجرعات والمشروبات الممنوعة (Food Timing &amp; Dietary Precautions)
</a:t>
            </a:r>
            <a:pPr indent="0" marL="0">
              <a:lnSpc>
                <a:spcPts val="1700"/>
              </a:lnSpc>
              <a:buNone/>
            </a:pPr>
            <a:r>
              <a:rPr lang="en-US" sz="1100" dirty="0">
                <a:solidFill>
                  <a:srgbClr val="FFFFFF"/>
                </a:solidFill>
                <a:latin typeface="Arial" pitchFamily="34" charset="0"/>
                <a:ea typeface="Arial" pitchFamily="34" charset="-122"/>
                <a:cs typeface="Arial" pitchFamily="34" charset="-120"/>
              </a:rPr>
              <a:t>4. دليل ومقيّم المقاييس الحيوية والتحاليل المخبرية (22 Clinical Biomarkers Evaluator)
</a:t>
            </a:r>
            <a:pPr indent="0" marL="0">
              <a:lnSpc>
                <a:spcPts val="1700"/>
              </a:lnSpc>
              <a:buNone/>
            </a:pPr>
            <a:r>
              <a:rPr lang="en-US" sz="1100" dirty="0">
                <a:solidFill>
                  <a:srgbClr val="FFFFFF"/>
                </a:solidFill>
                <a:latin typeface="Arial" pitchFamily="34" charset="0"/>
                <a:ea typeface="Arial" pitchFamily="34" charset="-122"/>
                <a:cs typeface="Arial" pitchFamily="34" charset="-120"/>
              </a:rPr>
              <a:t>5. دليل البدائل والمثائل والأسعار في السوق المصري (Egyptian Drug Alternatives &amp; Pricing)
</a:t>
            </a:r>
            <a:pPr indent="0" marL="0">
              <a:lnSpc>
                <a:spcPts val="1700"/>
              </a:lnSpc>
              <a:buNone/>
            </a:pPr>
            <a:r>
              <a:rPr lang="en-US" sz="1100" dirty="0">
                <a:solidFill>
                  <a:srgbClr val="FFFFFF"/>
                </a:solidFill>
                <a:latin typeface="Arial" pitchFamily="34" charset="0"/>
                <a:ea typeface="Arial" pitchFamily="34" charset="-122"/>
                <a:cs typeface="Arial" pitchFamily="34" charset="-120"/>
              </a:rPr>
              <a:t>6. أمان الأمراض المزمنة وموانع الاستعمال (Chronic Disease Contraindications)
</a:t>
            </a:r>
            <a:pPr indent="0" marL="0">
              <a:lnSpc>
                <a:spcPts val="1700"/>
              </a:lnSpc>
              <a:buNone/>
            </a:pPr>
            <a:r>
              <a:rPr lang="en-US" sz="1100" dirty="0">
                <a:solidFill>
                  <a:srgbClr val="FFFFFF"/>
                </a:solidFill>
                <a:latin typeface="Arial" pitchFamily="34" charset="0"/>
                <a:ea typeface="Arial" pitchFamily="34" charset="-122"/>
                <a:cs typeface="Arial" pitchFamily="34" charset="-120"/>
              </a:rPr>
              <a:t>7. مصفوفة المقارنة الدوائية المباشرة وجهاً لوجه (Side-by-Side Drug Comparison)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 الواجهة الرئيسية وشريط البحث السريري السريع</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يستغرق الصيدلي وقتاً طويلاً في البحث بين مراجع ورقية أو مواقع مشتتة للوصول إلى دواء معين أثناء وجود المريض أمامه في الصيدلية أو العيادة.</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شريط بحث فوري متصل بكاش الذاكرة (&lt; 1ms) مع اختصار لوحة المفاتيح (زر "/") وقائمة إكمال تلقائي فورية تشمل آلاف الأدوية بالاسم التجاري والمادة الفعالة مع بطاقات سريعة لأشهر أدوية السوق المصري.</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عناصر واجهة البحث الرئيسية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0D9488"/>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شريط الإدخال الذكي ➔ </a:t>
            </a:r>
            <a:pPr indent="0" marL="0">
              <a:lnSpc>
                <a:spcPts val="1400"/>
              </a:lnSpc>
              <a:buNone/>
            </a:pPr>
            <a:r>
              <a:rPr lang="en-US" sz="950" dirty="0">
                <a:solidFill>
                  <a:srgbClr val="FFFFFF"/>
                </a:solidFill>
                <a:latin typeface="Arial" pitchFamily="34" charset="0"/>
                <a:ea typeface="Arial" pitchFamily="34" charset="-122"/>
                <a:cs typeface="Arial" pitchFamily="34" charset="-120"/>
              </a:rPr>
              <a:t>يدعم البحث بالاسم التجاري (مثل Augmentin) أو العلمي (Amoxicillin) مع التركيز التلقائي بزر [/].</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38BDF8"/>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قائمة الإكمال التلقائي ➔ </a:t>
            </a:r>
            <a:pPr indent="0" marL="0">
              <a:lnSpc>
                <a:spcPts val="1400"/>
              </a:lnSpc>
              <a:buNone/>
            </a:pPr>
            <a:r>
              <a:rPr lang="en-US" sz="950" dirty="0">
                <a:solidFill>
                  <a:srgbClr val="FFFFFF"/>
                </a:solidFill>
                <a:latin typeface="Arial" pitchFamily="34" charset="0"/>
                <a:ea typeface="Arial" pitchFamily="34" charset="-122"/>
                <a:cs typeface="Arial" pitchFamily="34" charset="-120"/>
              </a:rPr>
              <a:t>تظهر أثناء الكتابة بعد حرفين فقط وتتيح التنقل بأسهم الكيبورد واختيار الدواء فوراً.</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F59E0B"/>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بطاقات الأدوية الشائعة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أزرار وصول مباشر لأشهر 6 أدوية متداولة في مصر (Augmentin, Concor, Cataflam, Glucophage, Panadol, Cipro).</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 فاحص التفاعلات الدوائية المتبادلة (Drug-Drug Interactions)</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عندما يتناول المريض أكثر من دواء في نفس الوقت، قد يحدث تفاعل دوائي خطير يؤدي إلى فشل العلاج أو حدوث نزيف أو توقف للقلب دون أن يدرك المريض أو مقدم الرعاية.</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تقوم الواجهة بفحص كافة الأزواج المتقاطعة بين الأدوية، وتصنيف الخطورة بألوان صلبة (أحمر، برتقالي، أزرق)، مع كتابة آلية التفاعل الفارماكولوجية والتوصية السريرية العملية للصيدلي.</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عناصر واجهة فاحص التفاعلات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DC2626"/>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شارات تصنيف الخطورة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شارات ملونة (🔴 عالي الخطورة / 🟠 متوسط / 🔵 بسيط) لمعرفة مستوى الخطورة في ثانية واحدة.</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38BDF8"/>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صندوق آلية التفاعل ➔ </a:t>
            </a:r>
            <a:pPr indent="0" marL="0">
              <a:lnSpc>
                <a:spcPts val="1400"/>
              </a:lnSpc>
              <a:buNone/>
            </a:pPr>
            <a:r>
              <a:rPr lang="en-US" sz="950" dirty="0">
                <a:solidFill>
                  <a:srgbClr val="FFFFFF"/>
                </a:solidFill>
                <a:latin typeface="Arial" pitchFamily="34" charset="0"/>
                <a:ea typeface="Arial" pitchFamily="34" charset="-122"/>
                <a:cs typeface="Arial" pitchFamily="34" charset="-120"/>
              </a:rPr>
              <a:t>يوضح المسار الحيوي (مثل تثبيط إنزيمات الكبد CYP450 أو التنافس على بروتينات البلازما).</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10B981"/>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التوصية السريرية العملية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خطة التدخل: فصل الجرعات بساعتين، تعديل الجرعة للنصف، أو استبدال الدواء ببديل آمن.</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3. تفاعلات الأدوية مع الطعام وتوقيت الجرعات (Food Interactions)</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جهل المريض بمواعيد الدواء مع الأكل، أو تناوله مع أطعمة محظورة (كاللبن، الجريب فروت، الأطعمة الغنية بالبوتاسيوم)، مما يقلل فاعلية العلاج بنسبة تصل إلى 80% أو يسبب سمية مفاجئة.</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تقدم جدولاً زمنياً مرتباً لكل دواء (قبل الأكل، مع الأكل، بعد الأكل)، مع قائمة تفصيلية بالأطعمة والمشروبات المحظورة وشرح تأثيرها المباشر على الامتصاص.</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واجهة تفاعلات الطعام ومواعيد الوجبات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F59E0B"/>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شارة التوقيت الزمني الدقيق ➔ </a:t>
            </a:r>
            <a:pPr indent="0" marL="0">
              <a:lnSpc>
                <a:spcPts val="1400"/>
              </a:lnSpc>
              <a:buNone/>
            </a:pPr>
            <a:r>
              <a:rPr lang="en-US" sz="950" dirty="0">
                <a:solidFill>
                  <a:srgbClr val="FFFFFF"/>
                </a:solidFill>
                <a:latin typeface="Arial" pitchFamily="34" charset="0"/>
                <a:ea typeface="Arial" pitchFamily="34" charset="-122"/>
                <a:cs typeface="Arial" pitchFamily="34" charset="-120"/>
              </a:rPr>
              <a:t>(قبل الأكل بساعة / مع الأكل مباشرة / بعد الأكل بساعتين) مع إرشادات الامتصاص.</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DC2626"/>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شبكة الأطعمة الممنوعة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بطاقات تحذيرية حمراء تبرز الأغذية المتعارضة (منتجات الألبان، الكافيين، الجريب فروت).</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38BDF8"/>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إرشادات التناول المبسطة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نصوص إرشادية جاهزة يمكن للصيدلي قراءتها مباشرة للمريض عند صرف الروشتة.</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4. دليل المقاييس الحيوية والتحاليل المخبرية (22 Biomarkers)</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صعوبة حفظ النطاقات المرجعية الطبيعية لعشرات التحاليل المعقدة (مثل eGFR, HbA1c, INR, Creatinine)، والارتباك في تفسير حالة المريض هل هي طبيعية أم في مرحلة الخطر.</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مرجع سريري يضم 22 تحليلاً مقسمة لأربع مجموعات (قلب، سكر، كلى، كبد) ومزودة بمقيّم رقمي فوري: يكتب الصيدلي رقم التحليل فتظهر النتيجة السريرية واللون التشخيصي فوراً.</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واجهة دليل ومقيّم المقاييس الحيوية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0D9488"/>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تصنيف الفئات السريرية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تبويبات منظمة (Cardiovascular, Glycemic, Renal, Hepatic) لسهولة الوصول للتحليل.</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38BDF8"/>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حقل المقيّم الرقمي التفاعلي ➔ </a:t>
            </a:r>
            <a:pPr indent="0" marL="0">
              <a:lnSpc>
                <a:spcPts val="1400"/>
              </a:lnSpc>
              <a:buNone/>
            </a:pPr>
            <a:r>
              <a:rPr lang="en-US" sz="950" dirty="0">
                <a:solidFill>
                  <a:srgbClr val="FFFFFF"/>
                </a:solidFill>
                <a:latin typeface="Arial" pitchFamily="34" charset="0"/>
                <a:ea typeface="Arial" pitchFamily="34" charset="-122"/>
                <a:cs typeface="Arial" pitchFamily="34" charset="-120"/>
              </a:rPr>
              <a:t>إدخال قيمة التحليل (مثل كتابة 1.8 في خانة الكرياتينين) لحساب الحالة والتقييم مباشرة.</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10B981"/>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شارة التشخيص اللوني ➔ </a:t>
            </a:r>
            <a:pPr indent="0" marL="0">
              <a:lnSpc>
                <a:spcPts val="1400"/>
              </a:lnSpc>
              <a:buNone/>
            </a:pPr>
            <a:r>
              <a:rPr lang="en-US" sz="950" dirty="0">
                <a:solidFill>
                  <a:srgbClr val="FFFFFF"/>
                </a:solidFill>
                <a:latin typeface="Arial" pitchFamily="34" charset="0"/>
                <a:ea typeface="Arial" pitchFamily="34" charset="-122"/>
                <a:cs typeface="Arial" pitchFamily="34" charset="-120"/>
              </a:rPr>
              <a:t>(أخضر = طبيعي / أصفر = حذر / أحمر = خطر) مع الدلالة الطبية والتوصية السريرية.</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5. دليل البدائل والمثائل في السوق المصري (Egyptian Alternatives)</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نقص الأدوية المتكرر في الصيدليات المصرية، وارتفاع أسعار الأدوية المستوردة على المرضى محدودي الدخل، مع صعوبة حصر البدائل التجارية المتطابقة كيميائياً.</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تحلل الواجهة المادة الفعالة العلمية وتستخرج فوراً كافة البدائل المصرية المسجلة مع الشركات المصنعة وتصنيف الفئة السعرية (رخيص / متوسط / مرتفع) لتوفير خيارات مناسبة للجميع.</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واجهة دليل البدائل والأسعار في مصر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0D9488"/>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بطاقة المادة الفعالة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عرض الاسم العلمي المعتمد (Active Ingredient) لضمان التطابق العلاجي التام.</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38BDF8"/>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جدول البدائل والشركات ➔ </a:t>
            </a:r>
            <a:pPr indent="0" marL="0">
              <a:lnSpc>
                <a:spcPts val="1400"/>
              </a:lnSpc>
              <a:buNone/>
            </a:pPr>
            <a:r>
              <a:rPr lang="en-US" sz="950" dirty="0">
                <a:solidFill>
                  <a:srgbClr val="FFFFFF"/>
                </a:solidFill>
                <a:latin typeface="Arial" pitchFamily="34" charset="0"/>
                <a:ea typeface="Arial" pitchFamily="34" charset="-122"/>
                <a:cs typeface="Arial" pitchFamily="34" charset="-120"/>
              </a:rPr>
              <a:t>قائمة واضحة تضم الأسماء التجارية المتاحة في السوق والشركات المرخصة.</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F59E0B"/>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تصنيف الفئات السعرية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شارات ملونة توضح الفئة السعرية (رخيص / متوسط / مرتفع) لاختيار البديل الاقتصادي.</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6. أمان وموانع استعمال الأمراض المزمنة (Chronic Disease Safety)</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صرف أدوية شائعة (مثل المسكنات أو بعض المضادات) لمرضى الضغط أو السكري أو القصور الكلوي، مما يسبب تدهوراً حاداً في وظائف الكلى أو ارتفاع خطير في ضغط الدم.</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فاحص ذكي يقيم أمان الدواء مع 7 حالات مزمنة (الضغط، السكري، القصور الكلوي CKD، الكبد، قرحة المعدة، الربو، الحمل) ويصنفها (آمن / تحذير / ممنوع تماماً) مع معادلات ضبط الجرعة.</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واجهة أمان الأمراض المزمنة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BE123C"/>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محدد الحالات المزمنة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قائمة اختيار سريعة (Hypertension, Diabetes, CKD, Hepatic, Asthma, Pregnancy).</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DC2626"/>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بطاقة تقييم الأمان ➔ </a:t>
            </a:r>
            <a:pPr indent="0" marL="0">
              <a:lnSpc>
                <a:spcPts val="1400"/>
              </a:lnSpc>
              <a:buNone/>
            </a:pPr>
            <a:r>
              <a:rPr lang="en-US" sz="950" dirty="0">
                <a:solidFill>
                  <a:srgbClr val="FFFFFF"/>
                </a:solidFill>
                <a:latin typeface="Arial" pitchFamily="34" charset="0"/>
                <a:ea typeface="Arial" pitchFamily="34" charset="-122"/>
                <a:cs typeface="Arial" pitchFamily="34" charset="-120"/>
              </a:rPr>
              <a:t>(ممنوع تماماً Contraindicated / تحذير وتعديل جرعة Caution / آمن Safe).</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10B981"/>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إرشادات الجرعات الكلوية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تحديد النسب والحدود الآمنة لـ CrCl لتجنب تراكم الدواء وسميته في الجسم.</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YOPHARMA | دليل واجهات ومميزات المنصة</a:t>
            </a:r>
            <a:endParaRPr lang="en-US" sz="9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7. مصفوفة المقارنة الدوائية السريرية المباشرة (Side-by-Side Comparison)</a:t>
            </a:r>
            <a:endParaRPr lang="en-US" sz="1800" dirty="0"/>
          </a:p>
        </p:txBody>
      </p:sp>
      <p:sp>
        <p:nvSpPr>
          <p:cNvPr id="4" name="Shape 2"/>
          <p:cNvSpPr/>
          <p:nvPr/>
        </p:nvSpPr>
        <p:spPr>
          <a:xfrm>
            <a:off x="548640" y="1097280"/>
            <a:ext cx="11064240" cy="0"/>
          </a:xfrm>
          <a:prstGeom prst="line">
            <a:avLst/>
          </a:prstGeom>
          <a:noFill/>
          <a:ln w="15240">
            <a:solidFill>
              <a:srgbClr val="CBD5E1"/>
            </a:solidFill>
            <a:prstDash val="solid"/>
          </a:ln>
        </p:spPr>
      </p:sp>
      <p:sp>
        <p:nvSpPr>
          <p:cNvPr id="5" name="Shape 3"/>
          <p:cNvSpPr/>
          <p:nvPr/>
        </p:nvSpPr>
        <p:spPr>
          <a:xfrm>
            <a:off x="548640" y="1234440"/>
            <a:ext cx="4389120" cy="5029200"/>
          </a:xfrm>
          <a:prstGeom prst="roundRect">
            <a:avLst>
              <a:gd name="adj" fmla="val 2083"/>
            </a:avLst>
          </a:prstGeom>
          <a:solidFill>
            <a:srgbClr val="FFFFFF"/>
          </a:solidFill>
          <a:ln w="12700">
            <a:solidFill>
              <a:srgbClr val="CBD5E1"/>
            </a:solidFill>
            <a:prstDash val="solid"/>
          </a:ln>
        </p:spPr>
      </p:sp>
      <p:sp>
        <p:nvSpPr>
          <p:cNvPr id="6" name="Text 4"/>
          <p:cNvSpPr/>
          <p:nvPr/>
        </p:nvSpPr>
        <p:spPr>
          <a:xfrm>
            <a:off x="731520" y="1371600"/>
            <a:ext cx="402336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 المشكلة الواقعية:</a:t>
            </a:r>
            <a:endParaRPr lang="en-US" sz="1300" dirty="0"/>
          </a:p>
        </p:txBody>
      </p:sp>
      <p:sp>
        <p:nvSpPr>
          <p:cNvPr id="7" name="Text 5"/>
          <p:cNvSpPr/>
          <p:nvPr/>
        </p:nvSpPr>
        <p:spPr>
          <a:xfrm>
            <a:off x="731520" y="1691640"/>
            <a:ext cx="4023360" cy="109728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الحيرة بين دوائين من نفس المجموعة الدوائية (مثل Concor vs Tenormin أو Augmentin vs Ciprofloxacin) وصعوبة تحديد الفروق الدقيقة في الجرعات والآثار الجانبية.</a:t>
            </a:r>
            <a:endParaRPr lang="en-US" sz="1050" dirty="0"/>
          </a:p>
        </p:txBody>
      </p:sp>
      <p:sp>
        <p:nvSpPr>
          <p:cNvPr id="8" name="Text 6"/>
          <p:cNvSpPr/>
          <p:nvPr/>
        </p:nvSpPr>
        <p:spPr>
          <a:xfrm>
            <a:off x="731520" y="2880360"/>
            <a:ext cx="4023360" cy="320040"/>
          </a:xfrm>
          <a:prstGeom prst="rect">
            <a:avLst/>
          </a:prstGeom>
          <a:noFill/>
          <a:ln/>
        </p:spPr>
        <p:txBody>
          <a:bodyPr wrap="square" rtlCol="0" anchor="ctr"/>
          <a:lstStyle/>
          <a:p>
            <a:pPr indent="0" marL="0">
              <a:buNone/>
            </a:pPr>
            <a:r>
              <a:rPr lang="en-US" sz="1300" b="1" dirty="0">
                <a:solidFill>
                  <a:srgbClr val="0F766E"/>
                </a:solidFill>
                <a:latin typeface="Arial" pitchFamily="34" charset="0"/>
                <a:ea typeface="Arial" pitchFamily="34" charset="-122"/>
                <a:cs typeface="Arial" pitchFamily="34" charset="-120"/>
              </a:rPr>
              <a:t>✨ كيف تحل هذه الواجهة المشكلة؟</a:t>
            </a:r>
            <a:endParaRPr lang="en-US" sz="1300" dirty="0"/>
          </a:p>
        </p:txBody>
      </p:sp>
      <p:sp>
        <p:nvSpPr>
          <p:cNvPr id="9" name="Text 7"/>
          <p:cNvSpPr/>
          <p:nvPr/>
        </p:nvSpPr>
        <p:spPr>
          <a:xfrm>
            <a:off x="731520" y="3200400"/>
            <a:ext cx="4023360" cy="1371600"/>
          </a:xfrm>
          <a:prstGeom prst="rect">
            <a:avLst/>
          </a:prstGeom>
          <a:noFill/>
          <a:ln/>
        </p:spPr>
        <p:txBody>
          <a:bodyPr wrap="square" rtlCol="0" anchor="ctr"/>
          <a:lstStyle/>
          <a:p>
            <a:pPr indent="0" marL="0">
              <a:lnSpc>
                <a:spcPts val="1500"/>
              </a:lnSpc>
              <a:buNone/>
            </a:pPr>
            <a:r>
              <a:rPr lang="en-US" sz="1050" dirty="0">
                <a:solidFill>
                  <a:srgbClr val="0F172A"/>
                </a:solidFill>
                <a:latin typeface="Arial" pitchFamily="34" charset="0"/>
                <a:ea typeface="Arial" pitchFamily="34" charset="-122"/>
                <a:cs typeface="Arial" pitchFamily="34" charset="-120"/>
              </a:rPr>
              <a:t>مصفوفة مقارنة عمودية تضع الدواءين وجهاً لوجه في جدول سريري يقارن: المادة الفعالة، دواعي الاستعمال، الجرعات، الآثار الجانبية، مع خلاصة وتوصية سريرية لاختيار الأنسب.</a:t>
            </a:r>
            <a:endParaRPr lang="en-US" sz="1050" dirty="0"/>
          </a:p>
        </p:txBody>
      </p:sp>
      <p:sp>
        <p:nvSpPr>
          <p:cNvPr id="10" name="Shape 8"/>
          <p:cNvSpPr/>
          <p:nvPr/>
        </p:nvSpPr>
        <p:spPr>
          <a:xfrm>
            <a:off x="5120640" y="1234440"/>
            <a:ext cx="6492240" cy="5029200"/>
          </a:xfrm>
          <a:prstGeom prst="roundRect">
            <a:avLst>
              <a:gd name="adj" fmla="val 1818"/>
            </a:avLst>
          </a:prstGeom>
          <a:solidFill>
            <a:srgbClr val="0F172A"/>
          </a:solidFill>
          <a:ln w="12700">
            <a:solidFill>
              <a:srgbClr val="334155"/>
            </a:solidFill>
            <a:prstDash val="solid"/>
          </a:ln>
        </p:spPr>
      </p:sp>
      <p:sp>
        <p:nvSpPr>
          <p:cNvPr id="11" name="Text 9"/>
          <p:cNvSpPr/>
          <p:nvPr/>
        </p:nvSpPr>
        <p:spPr>
          <a:xfrm>
            <a:off x="5303520" y="1371600"/>
            <a:ext cx="612648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 تشريح واجهة مصفوفة المقارنة المباشرة (UI Breakdown):</a:t>
            </a:r>
            <a:endParaRPr lang="en-US" sz="1200" dirty="0"/>
          </a:p>
        </p:txBody>
      </p:sp>
      <p:sp>
        <p:nvSpPr>
          <p:cNvPr id="12" name="Shape 10"/>
          <p:cNvSpPr/>
          <p:nvPr/>
        </p:nvSpPr>
        <p:spPr>
          <a:xfrm>
            <a:off x="5303520" y="1783080"/>
            <a:ext cx="6126480" cy="914400"/>
          </a:xfrm>
          <a:prstGeom prst="roundRect">
            <a:avLst>
              <a:gd name="adj" fmla="val 8000"/>
            </a:avLst>
          </a:prstGeom>
          <a:solidFill>
            <a:srgbClr val="1E293B"/>
          </a:solidFill>
          <a:ln w="19050">
            <a:solidFill>
              <a:srgbClr val="2563EB"/>
            </a:solidFill>
            <a:prstDash val="solid"/>
          </a:ln>
        </p:spPr>
      </p:sp>
      <p:sp>
        <p:nvSpPr>
          <p:cNvPr id="13" name="Text 11"/>
          <p:cNvSpPr/>
          <p:nvPr/>
        </p:nvSpPr>
        <p:spPr>
          <a:xfrm>
            <a:off x="5440680" y="187452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[1] حقلا اختيار الدواءين ➔ </a:t>
            </a:r>
            <a:pPr indent="0" marL="0">
              <a:lnSpc>
                <a:spcPts val="1400"/>
              </a:lnSpc>
              <a:buNone/>
            </a:pPr>
            <a:r>
              <a:rPr lang="en-US" sz="950" dirty="0">
                <a:solidFill>
                  <a:srgbClr val="FFFFFF"/>
                </a:solidFill>
                <a:latin typeface="Arial" pitchFamily="34" charset="0"/>
                <a:ea typeface="Arial" pitchFamily="34" charset="-122"/>
                <a:cs typeface="Arial" pitchFamily="34" charset="-120"/>
              </a:rPr>
              <a:t>إدخال الدواء (أ) والدواء (ب) مع اقتراحات الإكمال التلقائي الذكية.</a:t>
            </a:r>
            <a:endParaRPr lang="en-US" sz="1000" dirty="0"/>
          </a:p>
        </p:txBody>
      </p:sp>
      <p:sp>
        <p:nvSpPr>
          <p:cNvPr id="14" name="Shape 12"/>
          <p:cNvSpPr/>
          <p:nvPr/>
        </p:nvSpPr>
        <p:spPr>
          <a:xfrm>
            <a:off x="5303520" y="2834640"/>
            <a:ext cx="6126480" cy="914400"/>
          </a:xfrm>
          <a:prstGeom prst="roundRect">
            <a:avLst>
              <a:gd name="adj" fmla="val 8000"/>
            </a:avLst>
          </a:prstGeom>
          <a:solidFill>
            <a:srgbClr val="1E293B"/>
          </a:solidFill>
          <a:ln w="19050">
            <a:solidFill>
              <a:srgbClr val="38BDF8"/>
            </a:solidFill>
            <a:prstDash val="solid"/>
          </a:ln>
        </p:spPr>
      </p:sp>
      <p:sp>
        <p:nvSpPr>
          <p:cNvPr id="15" name="Text 13"/>
          <p:cNvSpPr/>
          <p:nvPr/>
        </p:nvSpPr>
        <p:spPr>
          <a:xfrm>
            <a:off x="5440680" y="292608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[2] جدول المقارنة العمودي ➔ </a:t>
            </a:r>
            <a:pPr indent="0" marL="0">
              <a:lnSpc>
                <a:spcPts val="1400"/>
              </a:lnSpc>
              <a:buNone/>
            </a:pPr>
            <a:r>
              <a:rPr lang="en-US" sz="950" dirty="0">
                <a:solidFill>
                  <a:srgbClr val="FFFFFF"/>
                </a:solidFill>
                <a:latin typeface="Arial" pitchFamily="34" charset="0"/>
                <a:ea typeface="Arial" pitchFamily="34" charset="-122"/>
                <a:cs typeface="Arial" pitchFamily="34" charset="-120"/>
              </a:rPr>
              <a:t>مقارنة تفصيلية في المادة الفعالة، الاستخدامات، الآثار الجانبية، وموانع الاستعمال.</a:t>
            </a:r>
            <a:endParaRPr lang="en-US" sz="1000" dirty="0"/>
          </a:p>
        </p:txBody>
      </p:sp>
      <p:sp>
        <p:nvSpPr>
          <p:cNvPr id="16" name="Shape 14"/>
          <p:cNvSpPr/>
          <p:nvPr/>
        </p:nvSpPr>
        <p:spPr>
          <a:xfrm>
            <a:off x="5303520" y="3886200"/>
            <a:ext cx="6126480" cy="914400"/>
          </a:xfrm>
          <a:prstGeom prst="roundRect">
            <a:avLst>
              <a:gd name="adj" fmla="val 8000"/>
            </a:avLst>
          </a:prstGeom>
          <a:solidFill>
            <a:srgbClr val="1E293B"/>
          </a:solidFill>
          <a:ln w="19050">
            <a:solidFill>
              <a:srgbClr val="10B981"/>
            </a:solidFill>
            <a:prstDash val="solid"/>
          </a:ln>
        </p:spPr>
      </p:sp>
      <p:sp>
        <p:nvSpPr>
          <p:cNvPr id="17" name="Text 15"/>
          <p:cNvSpPr/>
          <p:nvPr/>
        </p:nvSpPr>
        <p:spPr>
          <a:xfrm>
            <a:off x="5440680" y="3977640"/>
            <a:ext cx="5852160" cy="731520"/>
          </a:xfrm>
          <a:prstGeom prst="rect">
            <a:avLst/>
          </a:prstGeom>
          <a:noFill/>
          <a:ln/>
        </p:spPr>
        <p:txBody>
          <a:bodyPr wrap="square" rtlCol="0" anchor="ctr"/>
          <a:lstStyle/>
          <a:p>
            <a:pPr indent="0" marL="0">
              <a:lnSpc>
                <a:spcPts val="1400"/>
              </a:lnSpc>
              <a:buNone/>
            </a:pPr>
            <a:r>
              <a:rPr lang="en-US" sz="1000" b="1" dirty="0">
                <a:solidFill>
                  <a:srgbClr val="5EEAD4"/>
                </a:solidFill>
                <a:latin typeface="Arial" pitchFamily="34" charset="0"/>
                <a:ea typeface="Arial" pitchFamily="34" charset="-122"/>
                <a:cs typeface="Arial" pitchFamily="34" charset="-120"/>
              </a:rPr>
              <a:t>[3] التوصية السريرية النهائية ➔ </a:t>
            </a:r>
            <a:pPr indent="0" marL="0">
              <a:lnSpc>
                <a:spcPts val="1400"/>
              </a:lnSpc>
              <a:buNone/>
            </a:pPr>
            <a:r>
              <a:rPr lang="en-US" sz="950" dirty="0">
                <a:solidFill>
                  <a:srgbClr val="FFFFFF"/>
                </a:solidFill>
                <a:latin typeface="Arial" pitchFamily="34" charset="0"/>
                <a:ea typeface="Arial" pitchFamily="34" charset="-122"/>
                <a:cs typeface="Arial" pitchFamily="34" charset="-120"/>
              </a:rPr>
              <a:t>خلاصة توضح متى يُفضل الدواء (أ) ومتى يُفضل الدواء (ب) وفق الحالة الصحية.</a:t>
            </a:r>
            <a:endParaRPr lang="en-US" sz="1000" dirty="0"/>
          </a:p>
        </p:txBody>
      </p:sp>
      <p:sp>
        <p:nvSpPr>
          <p:cNvPr id="18" name="Text 16"/>
          <p:cNvSpPr/>
          <p:nvPr/>
        </p:nvSpPr>
        <p:spPr>
          <a:xfrm>
            <a:off x="548640" y="6446520"/>
            <a:ext cx="11064240" cy="22860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كلية الصيدلة • الجامعة المصرية الصينية (ECU) | تطوير: يوسف محمد | YoPharma Clinical Suite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731520"/>
            <a:ext cx="9144000" cy="320040"/>
          </a:xfrm>
          <a:prstGeom prst="rect">
            <a:avLst/>
          </a:prstGeom>
          <a:noFill/>
          <a:ln/>
        </p:spPr>
        <p:txBody>
          <a:bodyPr wrap="square" rtlCol="0" anchor="ctr"/>
          <a:lstStyle/>
          <a:p>
            <a:pPr indent="0" marL="0">
              <a:buNone/>
            </a:pPr>
            <a:r>
              <a:rPr lang="en-US" sz="1200" b="1" dirty="0">
                <a:solidFill>
                  <a:srgbClr val="5EEAD4"/>
                </a:solidFill>
                <a:latin typeface="Arial" pitchFamily="34" charset="0"/>
                <a:ea typeface="Arial" pitchFamily="34" charset="-122"/>
                <a:cs typeface="Arial" pitchFamily="34" charset="-120"/>
              </a:rPr>
              <a:t>خاتمة المشروع والأثر الأكاديمي</a:t>
            </a:r>
            <a:endParaRPr lang="en-US" sz="1200" dirty="0"/>
          </a:p>
        </p:txBody>
      </p:sp>
      <p:sp>
        <p:nvSpPr>
          <p:cNvPr id="3" name="Text 1"/>
          <p:cNvSpPr/>
          <p:nvPr/>
        </p:nvSpPr>
        <p:spPr>
          <a:xfrm>
            <a:off x="914400" y="1097280"/>
            <a:ext cx="100584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YoPharma — منظومة سريرية متكاملة لخدمة الصيدلة في مصر</a:t>
            </a:r>
            <a:endParaRPr lang="en-US" sz="2400" dirty="0"/>
          </a:p>
        </p:txBody>
      </p:sp>
      <p:sp>
        <p:nvSpPr>
          <p:cNvPr id="4" name="Shape 2"/>
          <p:cNvSpPr/>
          <p:nvPr/>
        </p:nvSpPr>
        <p:spPr>
          <a:xfrm>
            <a:off x="914400" y="1920240"/>
            <a:ext cx="3200400" cy="2926080"/>
          </a:xfrm>
          <a:prstGeom prst="roundRect">
            <a:avLst>
              <a:gd name="adj" fmla="val 3750"/>
            </a:avLst>
          </a:prstGeom>
          <a:solidFill>
            <a:srgbClr val="1E293B"/>
          </a:solidFill>
          <a:ln w="12700">
            <a:solidFill>
              <a:srgbClr val="334155"/>
            </a:solidFill>
            <a:prstDash val="solid"/>
          </a:ln>
        </p:spPr>
      </p:sp>
      <p:sp>
        <p:nvSpPr>
          <p:cNvPr id="5" name="Text 3"/>
          <p:cNvSpPr/>
          <p:nvPr/>
        </p:nvSpPr>
        <p:spPr>
          <a:xfrm>
            <a:off x="1143000" y="2194560"/>
            <a:ext cx="2743200" cy="548640"/>
          </a:xfrm>
          <a:prstGeom prst="rect">
            <a:avLst/>
          </a:prstGeom>
          <a:noFill/>
          <a:ln/>
        </p:spPr>
        <p:txBody>
          <a:bodyPr wrap="square" rtlCol="0" anchor="ctr"/>
          <a:lstStyle/>
          <a:p>
            <a:pPr indent="0" marL="0">
              <a:buNone/>
            </a:pPr>
            <a:r>
              <a:rPr lang="en-US" sz="1300" b="1" dirty="0">
                <a:solidFill>
                  <a:srgbClr val="5EEAD4"/>
                </a:solidFill>
                <a:latin typeface="Arial" pitchFamily="34" charset="0"/>
                <a:ea typeface="Arial" pitchFamily="34" charset="-122"/>
                <a:cs typeface="Arial" pitchFamily="34" charset="-120"/>
              </a:rPr>
              <a:t>🎓 تدريب سريري تفاعلي</a:t>
            </a:r>
            <a:endParaRPr lang="en-US" sz="1300" dirty="0"/>
          </a:p>
        </p:txBody>
      </p:sp>
      <p:sp>
        <p:nvSpPr>
          <p:cNvPr id="6" name="Text 4"/>
          <p:cNvSpPr/>
          <p:nvPr/>
        </p:nvSpPr>
        <p:spPr>
          <a:xfrm>
            <a:off x="1143000" y="2834640"/>
            <a:ext cx="2743200" cy="1737360"/>
          </a:xfrm>
          <a:prstGeom prst="rect">
            <a:avLst/>
          </a:prstGeom>
          <a:noFill/>
          <a:ln/>
        </p:spPr>
        <p:txBody>
          <a:bodyPr wrap="square" rtlCol="0" anchor="ctr"/>
          <a:lstStyle/>
          <a:p>
            <a:pPr indent="0" marL="0">
              <a:lnSpc>
                <a:spcPts val="1800"/>
              </a:lnSpc>
              <a:buNone/>
            </a:pPr>
            <a:r>
              <a:rPr lang="en-US" sz="1100" dirty="0">
                <a:solidFill>
                  <a:srgbClr val="94A3B8"/>
                </a:solidFill>
                <a:latin typeface="Arial" pitchFamily="34" charset="0"/>
                <a:ea typeface="Arial" pitchFamily="34" charset="-122"/>
                <a:cs typeface="Arial" pitchFamily="34" charset="-120"/>
              </a:rPr>
              <a:t>أداة تعليمية وتطبيقية لطلاب كليات الصيدلة أثناء التدريب الميداني والتحضير للامتحانات السريرية OSCE.</a:t>
            </a:r>
            <a:endParaRPr lang="en-US" sz="1100" dirty="0"/>
          </a:p>
        </p:txBody>
      </p:sp>
      <p:sp>
        <p:nvSpPr>
          <p:cNvPr id="7" name="Shape 5"/>
          <p:cNvSpPr/>
          <p:nvPr/>
        </p:nvSpPr>
        <p:spPr>
          <a:xfrm>
            <a:off x="4389120" y="1920240"/>
            <a:ext cx="3200400" cy="2926080"/>
          </a:xfrm>
          <a:prstGeom prst="roundRect">
            <a:avLst>
              <a:gd name="adj" fmla="val 3750"/>
            </a:avLst>
          </a:prstGeom>
          <a:solidFill>
            <a:srgbClr val="1E293B"/>
          </a:solidFill>
          <a:ln w="12700">
            <a:solidFill>
              <a:srgbClr val="334155"/>
            </a:solidFill>
            <a:prstDash val="solid"/>
          </a:ln>
        </p:spPr>
      </p:sp>
      <p:sp>
        <p:nvSpPr>
          <p:cNvPr id="8" name="Text 6"/>
          <p:cNvSpPr/>
          <p:nvPr/>
        </p:nvSpPr>
        <p:spPr>
          <a:xfrm>
            <a:off x="4617720" y="2194560"/>
            <a:ext cx="2743200" cy="548640"/>
          </a:xfrm>
          <a:prstGeom prst="rect">
            <a:avLst/>
          </a:prstGeom>
          <a:noFill/>
          <a:ln/>
        </p:spPr>
        <p:txBody>
          <a:bodyPr wrap="square" rtlCol="0" anchor="ctr"/>
          <a:lstStyle/>
          <a:p>
            <a:pPr indent="0" marL="0">
              <a:buNone/>
            </a:pPr>
            <a:r>
              <a:rPr lang="en-US" sz="1300" b="1" dirty="0">
                <a:solidFill>
                  <a:srgbClr val="5EEAD4"/>
                </a:solidFill>
                <a:latin typeface="Arial" pitchFamily="34" charset="0"/>
                <a:ea typeface="Arial" pitchFamily="34" charset="-122"/>
                <a:cs typeface="Arial" pitchFamily="34" charset="-120"/>
              </a:rPr>
              <a:t>🏥 دعم القرار بالصيدليات</a:t>
            </a:r>
            <a:endParaRPr lang="en-US" sz="1300" dirty="0"/>
          </a:p>
        </p:txBody>
      </p:sp>
      <p:sp>
        <p:nvSpPr>
          <p:cNvPr id="9" name="Text 7"/>
          <p:cNvSpPr/>
          <p:nvPr/>
        </p:nvSpPr>
        <p:spPr>
          <a:xfrm>
            <a:off x="4617720" y="2834640"/>
            <a:ext cx="2743200" cy="1737360"/>
          </a:xfrm>
          <a:prstGeom prst="rect">
            <a:avLst/>
          </a:prstGeom>
          <a:noFill/>
          <a:ln/>
        </p:spPr>
        <p:txBody>
          <a:bodyPr wrap="square" rtlCol="0" anchor="ctr"/>
          <a:lstStyle/>
          <a:p>
            <a:pPr indent="0" marL="0">
              <a:lnSpc>
                <a:spcPts val="1800"/>
              </a:lnSpc>
              <a:buNone/>
            </a:pPr>
            <a:r>
              <a:rPr lang="en-US" sz="1100" dirty="0">
                <a:solidFill>
                  <a:srgbClr val="94A3B8"/>
                </a:solidFill>
                <a:latin typeface="Arial" pitchFamily="34" charset="0"/>
                <a:ea typeface="Arial" pitchFamily="34" charset="-122"/>
                <a:cs typeface="Arial" pitchFamily="34" charset="-120"/>
              </a:rPr>
              <a:t>حماية المرضى من أخطاء التداخلات الدوائية ومواعيد الطعام واختيار البدائل الاقتصادية في ثوانٍ معدودة.</a:t>
            </a:r>
            <a:endParaRPr lang="en-US" sz="1100" dirty="0"/>
          </a:p>
        </p:txBody>
      </p:sp>
      <p:sp>
        <p:nvSpPr>
          <p:cNvPr id="10" name="Shape 8"/>
          <p:cNvSpPr/>
          <p:nvPr/>
        </p:nvSpPr>
        <p:spPr>
          <a:xfrm>
            <a:off x="7863840" y="1920240"/>
            <a:ext cx="3200400" cy="2926080"/>
          </a:xfrm>
          <a:prstGeom prst="roundRect">
            <a:avLst>
              <a:gd name="adj" fmla="val 3750"/>
            </a:avLst>
          </a:prstGeom>
          <a:solidFill>
            <a:srgbClr val="1E293B"/>
          </a:solidFill>
          <a:ln w="12700">
            <a:solidFill>
              <a:srgbClr val="334155"/>
            </a:solidFill>
            <a:prstDash val="solid"/>
          </a:ln>
        </p:spPr>
      </p:sp>
      <p:sp>
        <p:nvSpPr>
          <p:cNvPr id="11" name="Text 9"/>
          <p:cNvSpPr/>
          <p:nvPr/>
        </p:nvSpPr>
        <p:spPr>
          <a:xfrm>
            <a:off x="8092440" y="2194560"/>
            <a:ext cx="2743200" cy="548640"/>
          </a:xfrm>
          <a:prstGeom prst="rect">
            <a:avLst/>
          </a:prstGeom>
          <a:noFill/>
          <a:ln/>
        </p:spPr>
        <p:txBody>
          <a:bodyPr wrap="square" rtlCol="0" anchor="ctr"/>
          <a:lstStyle/>
          <a:p>
            <a:pPr indent="0" marL="0">
              <a:buNone/>
            </a:pPr>
            <a:r>
              <a:rPr lang="en-US" sz="1300" b="1" dirty="0">
                <a:solidFill>
                  <a:srgbClr val="5EEAD4"/>
                </a:solidFill>
                <a:latin typeface="Arial" pitchFamily="34" charset="0"/>
                <a:ea typeface="Arial" pitchFamily="34" charset="-122"/>
                <a:cs typeface="Arial" pitchFamily="34" charset="-120"/>
              </a:rPr>
              <a:t>⚡ أداء فائق واعتمادية</a:t>
            </a:r>
            <a:endParaRPr lang="en-US" sz="1300" dirty="0"/>
          </a:p>
        </p:txBody>
      </p:sp>
      <p:sp>
        <p:nvSpPr>
          <p:cNvPr id="12" name="Text 10"/>
          <p:cNvSpPr/>
          <p:nvPr/>
        </p:nvSpPr>
        <p:spPr>
          <a:xfrm>
            <a:off x="8092440" y="2834640"/>
            <a:ext cx="2743200" cy="1737360"/>
          </a:xfrm>
          <a:prstGeom prst="rect">
            <a:avLst/>
          </a:prstGeom>
          <a:noFill/>
          <a:ln/>
        </p:spPr>
        <p:txBody>
          <a:bodyPr wrap="square" rtlCol="0" anchor="ctr"/>
          <a:lstStyle/>
          <a:p>
            <a:pPr indent="0" marL="0">
              <a:lnSpc>
                <a:spcPts val="1800"/>
              </a:lnSpc>
              <a:buNone/>
            </a:pPr>
            <a:r>
              <a:rPr lang="en-US" sz="1100" dirty="0">
                <a:solidFill>
                  <a:srgbClr val="94A3B8"/>
                </a:solidFill>
                <a:latin typeface="Arial" pitchFamily="34" charset="0"/>
                <a:ea typeface="Arial" pitchFamily="34" charset="-122"/>
                <a:cs typeface="Arial" pitchFamily="34" charset="-120"/>
              </a:rPr>
              <a:t>كاش RAM تحت الملي ثانية، قاعدة بيانات دائمة، وتدوير ذكي لنماذج الذكاء الاصطناعي لمنع أي توقف.</a:t>
            </a:r>
            <a:endParaRPr lang="en-US" sz="1100" dirty="0"/>
          </a:p>
        </p:txBody>
      </p:sp>
      <p:sp>
        <p:nvSpPr>
          <p:cNvPr id="13" name="Shape 11"/>
          <p:cNvSpPr/>
          <p:nvPr/>
        </p:nvSpPr>
        <p:spPr>
          <a:xfrm>
            <a:off x="914400" y="5120640"/>
            <a:ext cx="10332720" cy="1005840"/>
          </a:xfrm>
          <a:prstGeom prst="roundRect">
            <a:avLst>
              <a:gd name="adj" fmla="val 9091"/>
            </a:avLst>
          </a:prstGeom>
          <a:solidFill>
            <a:srgbClr val="134E4A"/>
          </a:solidFill>
          <a:ln w="12700">
            <a:solidFill>
              <a:srgbClr val="0D9488"/>
            </a:solidFill>
            <a:prstDash val="solid"/>
          </a:ln>
        </p:spPr>
      </p:sp>
      <p:sp>
        <p:nvSpPr>
          <p:cNvPr id="14" name="Text 12"/>
          <p:cNvSpPr/>
          <p:nvPr/>
        </p:nvSpPr>
        <p:spPr>
          <a:xfrm>
            <a:off x="1188720" y="5303520"/>
            <a:ext cx="9784080" cy="640080"/>
          </a:xfrm>
          <a:prstGeom prst="rect">
            <a:avLst/>
          </a:prstGeom>
          <a:noFill/>
          <a:ln/>
        </p:spPr>
        <p:txBody>
          <a:bodyPr wrap="square" rtlCol="0" anchor="ctr"/>
          <a:lstStyle/>
          <a:p>
            <a:pPr algn="ctr" indent="0" marL="0">
              <a:buNone/>
            </a:pPr>
            <a:r>
              <a:rPr lang="en-US" sz="1200" b="1" dirty="0">
                <a:solidFill>
                  <a:srgbClr val="5EEAD4"/>
                </a:solidFill>
                <a:latin typeface="Arial" pitchFamily="34" charset="0"/>
                <a:ea typeface="Arial" pitchFamily="34" charset="-122"/>
                <a:cs typeface="Arial" pitchFamily="34" charset="-120"/>
              </a:rPr>
              <a:t>تطوير: </a:t>
            </a:r>
            <a:pPr algn="ctr" indent="0" marL="0">
              <a:buNone/>
            </a:pPr>
            <a:r>
              <a:rPr lang="en-US" sz="1200" dirty="0">
                <a:solidFill>
                  <a:srgbClr val="FFFFFF"/>
                </a:solidFill>
                <a:latin typeface="Arial" pitchFamily="34" charset="0"/>
                <a:ea typeface="Arial" pitchFamily="34" charset="-122"/>
                <a:cs typeface="Arial" pitchFamily="34" charset="-120"/>
              </a:rPr>
              <a:t>يوسف محمد  |  </a:t>
            </a:r>
            <a:pPr algn="ctr" indent="0" marL="0">
              <a:buNone/>
            </a:pPr>
            <a:r>
              <a:rPr lang="en-US" sz="1200" b="1" dirty="0">
                <a:solidFill>
                  <a:srgbClr val="5EEAD4"/>
                </a:solidFill>
                <a:latin typeface="Arial" pitchFamily="34" charset="0"/>
                <a:ea typeface="Arial" pitchFamily="34" charset="-122"/>
                <a:cs typeface="Arial" pitchFamily="34" charset="-120"/>
              </a:rPr>
              <a:t>المؤسسة الأكاديمية: </a:t>
            </a:r>
            <a:pPr algn="ctr" indent="0" marL="0">
              <a:buNone/>
            </a:pPr>
            <a:r>
              <a:rPr lang="en-US" sz="1200" dirty="0">
                <a:solidFill>
                  <a:srgbClr val="FFFFFF"/>
                </a:solidFill>
                <a:latin typeface="Arial" pitchFamily="34" charset="0"/>
                <a:ea typeface="Arial" pitchFamily="34" charset="-122"/>
                <a:cs typeface="Arial" pitchFamily="34" charset="-120"/>
              </a:rPr>
              <a:t>كلية الصيدلة - الجامعة المصرية الصينية (ECU)  |  </a:t>
            </a:r>
            <a:pPr algn="ctr" indent="0" marL="0">
              <a:buNone/>
            </a:pPr>
            <a:r>
              <a:rPr lang="en-US" sz="1200" b="1" dirty="0">
                <a:solidFill>
                  <a:srgbClr val="5EEAD4"/>
                </a:solidFill>
                <a:latin typeface="Arial" pitchFamily="34" charset="0"/>
                <a:ea typeface="Arial" pitchFamily="34" charset="-122"/>
                <a:cs typeface="Arial" pitchFamily="34" charset="-120"/>
              </a:rPr>
              <a:t>الدعم والتواصل: </a:t>
            </a:r>
            <a:pPr algn="ctr" indent="0" marL="0">
              <a:buNone/>
            </a:pPr>
            <a:r>
              <a:rPr lang="en-US" sz="1200" dirty="0">
                <a:solidFill>
                  <a:srgbClr val="FFFFFF"/>
                </a:solidFill>
                <a:latin typeface="Arial" pitchFamily="34" charset="0"/>
                <a:ea typeface="Arial" pitchFamily="34" charset="-122"/>
                <a:cs typeface="Arial" pitchFamily="34" charset="-120"/>
              </a:rPr>
              <a:t>wa.me/qr/2ZQYXCK7REOIC1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Egyptian Chinese University (ECU)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YoPharma - Clinical Pharmacy Platform Complete Feature Guide</dc:title>
  <dc:subject>YoPharma Full Clinical Platform Guide</dc:subject>
  <dc:creator>Youssef Mohamed</dc:creator>
  <cp:lastModifiedBy>Youssef Mohamed</cp:lastModifiedBy>
  <cp:revision>1</cp:revision>
  <dcterms:created xsi:type="dcterms:W3CDTF">2026-09-03T16:56:08Z</dcterms:created>
  <dcterms:modified xsi:type="dcterms:W3CDTF">2026-09-03T16:56:08Z</dcterms:modified>
</cp:coreProperties>
</file>