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CLINICAL PHARMACY SUITE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5544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Evidence-Based Decision Support &amp; Medication Safety Platform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المرجع الصيدلاني السريري الذكي لفحص التداخلات وبدائل الأدوية في مصر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4023360"/>
            <a:ext cx="10332720" cy="1737360"/>
          </a:xfrm>
          <a:prstGeom prst="roundRect">
            <a:avLst>
              <a:gd name="adj" fmla="val 789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206240"/>
            <a:ext cx="9784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Affiliation: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Chinese University (ECU) — Faculty of Pharmacy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by: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Mohamed (Clinical Pharmacy Research Initiative)
</a:t>
            </a:r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Architecture: </a:t>
            </a:r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Sub-millisecond Multi-Tier Cache + Dual AR/EN Realtime Engine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| CLINICAL PHARMACY SUITE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Executive Summary &amp; Clinical Need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The Clinical Challenge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5720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Polypharmacy &amp; Drug Interactions:
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Patients taking 3+ drugs face high risk of adverse cross-reactions and toxicity.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Food &amp; Meal Timing Errors:
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Critical antibiotics &amp; cardiac drugs lose up to 70% absorption if taken with improper meals or dairy.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Egyptian Generic Brand Confusion:
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Over 15,000 trade names in Egypt; finding identical chemical equivalents with price tiers is difficult.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Comorbidity Risks:
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Adjusting doses for renal (CKD), hepatic, and hypertensive patients requires fast reference.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9050">
            <a:solidFill>
              <a:srgbClr val="CCFB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 The YoPharma Solution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Multi-Drug Triage:
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Analyze entire prescriptions in &lt;2 seconds with solid high/moderate/minor risk stratification.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Food Schedule &amp; Restrictions:
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 meal timing and prohibited beverage alerts per medication.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Comprehensive Egyptian Database:
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Exact active ingredient matching across local brands with manufacturer &amp; price tier.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22 Biomarkers &amp; Vitals Guide:
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Interactive clinical calculator for lab tests (eGFR, INR, HbA1c, CrCl).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Chinese University (ECU) • Faculty of Pharmacy | Developed by Youssef Mohamed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| CLINICAL PHARMACY SUITE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Technical Architecture &amp; Performance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2194560"/>
          </a:xfrm>
          <a:prstGeom prst="roundRect">
            <a:avLst>
              <a:gd name="adj" fmla="val 5000"/>
            </a:avLst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Multi-Tier RAM Cache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Browser In-Memory (0ms)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Node.js Server RAM (&lt;1ms)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PostgreSQL Supabase Cache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Delivers instant repeated queries.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219456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9164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Multi-Model AI Failover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rotation engine: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Primary: Gemini 3.5 Flash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Secondary: Gemini 3.5 Flash-Lite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Fallback: Gemini 3.6 Flash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API downtime guarantee.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840480"/>
            <a:ext cx="5212080" cy="2194560"/>
          </a:xfrm>
          <a:prstGeom prst="roundRect">
            <a:avLst>
              <a:gd name="adj" fmla="val 5000"/>
            </a:avLst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0690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Dual-Language Engine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4480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Simultaneous bilingual storage: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drug monographs, interactions, meal guides, and explanations stored in both Arabic &amp; English without re-translation.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840480"/>
            <a:ext cx="5212080" cy="219456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40690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Modern Frontend Stack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4480560"/>
            <a:ext cx="4663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React 18, TypeScript, Vite, Tailwind CSS, Lucide Icons, and Framer Motion. 100% responsive for hospital desktop &amp; mobile.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Chinese University (ECU) • Faculty of Pharmacy | Developed by Youssef Mohamed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| CLINICAL PHARMACY SUITE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Module 1 — Drug-Drug Interaction Checker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&amp; Clinical Flow: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05840" y="2194560"/>
            <a:ext cx="2377440" cy="365760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377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743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Multi-Medication Input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3291840"/>
            <a:ext cx="2011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2 to 10+ medications into an active prescription tray using rapid keyboard navigation and autocomplete.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66160" y="2194560"/>
            <a:ext cx="2377440" cy="365760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2377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49040" y="2743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 Stratification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49040" y="3291840"/>
            <a:ext cx="2011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Color-coded triage: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🔴 High / Contraindicated (Avoid)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🟠 Moderate (Dose Adjust / Caution)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Minor (Monitor Parameters)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2194560"/>
            <a:ext cx="2377440" cy="365760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2377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309360" y="2743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Pharmacological Mechanism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3291840"/>
            <a:ext cx="2011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pharmacokinetic (CYP450 inhibition/induction) &amp; pharmacodynamic (additive toxicity) pathways.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686800" y="2194560"/>
            <a:ext cx="2377440" cy="365760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69680" y="23774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69680" y="27432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Pharmacist Action Protocol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869680" y="3291840"/>
            <a:ext cx="20116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clinical guidance: dosage spacing (e.g. 2 hours separation), lab monitoring, or safer therapeutic alternatives.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Chinese University (ECU) • Faculty of Pharmacy | Developed by Youssef Mohamed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| CLINICAL PHARMACY SUITE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Module 2 — Food-Drug Interactions &amp; Meal Timing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⏰ Administration Timing Guidelines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194560"/>
            <a:ext cx="457200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Before Meals (On Empty Stomach):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 hour before or 2 hours after meals (e.g. Proton Pump Inhibitors, Thyroid Hormones, Ciprofloxacin).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With or Immediately After Food: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 reduce gastric irritation or enhance absorption (e.g. NSAIDs, Metformin, Fat-soluble agents).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Specific Circadian Administration: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Bedtime dosing for Statins and sedatives; Morning dosing for Diuretics.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🚫 Prohibited Foods &amp; Beverages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66344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Dairy Products &amp; Calcium: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Chelates fluoroquinolones (Cipro) &amp; tetracyclines, reducing bio-availability by up to 80%.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Grapefruit Juice: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Potent CYP3A4 inhibitor causing dangerous serum accumulation of Statins and CCBs.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High-Potassium Foods &amp; Bananas: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Severe hyperkalemia risk when combined with ACE inhibitors, ARBs, and Spironolactone.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Chinese University (ECU) • Faculty of Pharmacy | Developed by Youssef Mohamed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| CLINICAL PHARMACY SUITE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Module 3 — Vital Signs &amp; 22 Biomarkers Guide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Comprehensive Reference for 22 Laboratory Parameters &amp; Interactive Evaluator: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" y="2194560"/>
            <a:ext cx="2377440" cy="3657600"/>
          </a:xfrm>
          <a:prstGeom prst="roundRect">
            <a:avLst>
              <a:gd name="adj" fmla="val 384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377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🫀 Cardiovascular &amp; Vitals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43000" y="292608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Blood Pressure (SBP/DBP)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Heart Rate / Pulse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Respiratory Rate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Body Temperature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Oxygen Saturation (SpO2)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BMI &amp; Body Weight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66160" y="2194560"/>
            <a:ext cx="2377440" cy="3657600"/>
          </a:xfrm>
          <a:prstGeom prst="roundRect">
            <a:avLst>
              <a:gd name="adj" fmla="val 384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3320" y="2377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🩸 Metabolic &amp; Glycemic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03320" y="292608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Fasting Blood Glucose (FBG)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Postprandial Glucose (PPG)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HbA1c (Glycated Hgb)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Cholesterol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Triglycerides &amp; LDL/HDL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Serum Uric Acid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2194560"/>
            <a:ext cx="2377440" cy="3657600"/>
          </a:xfrm>
          <a:prstGeom prst="roundRect">
            <a:avLst>
              <a:gd name="adj" fmla="val 384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2377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🫘 Renal &amp; Electrolytes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63640" y="292608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Serum Creatinine (sCr)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Blood Urea Nitrogen (BUN)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eGFR (Kidney Function)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Serum Potassium (K+)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Serum Sodium (Na+)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Urine Microalbumin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686800" y="2194560"/>
            <a:ext cx="2377440" cy="3657600"/>
          </a:xfrm>
          <a:prstGeom prst="roundRect">
            <a:avLst>
              <a:gd name="adj" fmla="val 384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23960" y="23774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🩺 Hepatic &amp; Hematology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23960" y="2926080"/>
            <a:ext cx="21031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ALT (SGPT) &amp; AST (SGOT)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Bilirubin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INR / Prothrombin Time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Hemoglobin (Hb)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White Blood Cells (WBC)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Platelet Count (PLT)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Chinese University (ECU) • Faculty of Pharmacy | Developed by Youssef Mohamed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| CLINICAL PHARMACY SUITE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Module 4 — Egyptian Drug Alternatives &amp; Pricing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Generic Equivalence in the Egyptian Pharmaceutical Market: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" y="219456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2468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Chemical Active Ingredient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3108960"/>
            <a:ext cx="27432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brand trade names to international nonproprietary names (INN). E.g. Augmentin, Curam, Megamox, Hibiotic all resolve to Amoxicillin + Clavulanic Acid.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80560" y="219456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2468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🏭 Verified Manufacturers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09160" y="3108960"/>
            <a:ext cx="27432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licensed Egyptian and multinational pharmaceutical companies (EIPICO, Amoun, GlaxoSmithKline, Novartis, Pfizer, EVA Pharma, Pharco).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55280" y="2194560"/>
            <a:ext cx="3200400" cy="36576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83880" y="24688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3-Tier Price Categorization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83880" y="3108960"/>
            <a:ext cx="27432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Categorizes available Egyptian market equivalents into Economy (رخيص), Moderate (متوسط), and Premium (مرتفع) to provide affordable patient options.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Chinese University (ECU) • Faculty of Pharmacy | Developed by Youssef Mohamed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| CLINICAL PHARMACY SUITE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Modules 5 &amp; 6 — Chronic Safety &amp; Comparison Matrix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698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Chronic Disease Safety Evaluator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5720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Patient Comorbidity Matching: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Checks medications against Hypertension, Type 2 Diabetes, Chronic Kidney Disease (CKD), Hepatic Impairment, Peptic Ulcers, and Asthma.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Contraindication Triage: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Classifies as Safe (آمن), Caution/Adjust (تحذير وتعديل جرعة), or Strictly Contraindicated (ممنوع تماماً).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Clinical Renal/Hepatic Notes: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Provides CrCl cutoffs and dose reduction formulas.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46634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Side-by-Side Comparison Matrix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Head-to-Head Evaluation: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Compare any two drugs (e.g. Concor vs Tenormin, Augmentin vs Cipro, Panadol vs Cataflam).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Structured Feature Matrix: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Direct side-by-side comparison of active ingredients, therapeutic class, standard dosage, side-effect profiles, and precautions.
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Clinical Recommendation Verdict: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Provides evidence-based summary on when to favor one drug over the other.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Chinese University (ECU) • Faculty of Pharmacy | Developed by Youssef Mohamed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IMPACT &amp;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YoPharma — Empowering Egyptian Pharmacy Practice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14400" y="1920240"/>
            <a:ext cx="3200400" cy="2926080"/>
          </a:xfrm>
          <a:prstGeom prst="roundRect">
            <a:avLst>
              <a:gd name="adj" fmla="val 375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1945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Faculty Educational Tool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283464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for pharmacy students at ECU for clinical training, OSCE exam prep, and prescription audit practice.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89120" y="1920240"/>
            <a:ext cx="3200400" cy="2926080"/>
          </a:xfrm>
          <a:prstGeom prst="roundRect">
            <a:avLst>
              <a:gd name="adj" fmla="val 375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1945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🏥 Dispensary Clinical Decision Support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617720" y="283464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Enables hospital &amp; community pharmacists to prevent medication errors, drug toxicities, and food-timing failures in real time.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863840" y="1920240"/>
            <a:ext cx="3200400" cy="2926080"/>
          </a:xfrm>
          <a:prstGeom prst="roundRect">
            <a:avLst>
              <a:gd name="adj" fmla="val 375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92440" y="21945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High-Speed Reliable Tech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92440" y="2834640"/>
            <a:ext cx="2743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Sub-millisecond RAM caching, automated fallback AI rotation, bilingual data sync, and 100% responsive design.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5120640"/>
            <a:ext cx="10332720" cy="1005840"/>
          </a:xfrm>
          <a:prstGeom prst="roundRect">
            <a:avLst>
              <a:gd name="adj" fmla="val 9091"/>
            </a:avLst>
          </a:prstGeom>
          <a:solidFill>
            <a:srgbClr val="134E4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530352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 by: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Youssef Mohamed  |  </a:t>
            </a:r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Institution: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Egyptian Chinese University (ECU)  |  </a:t>
            </a:r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Support: 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wa.me/qr/2ZQYXCK7REOIC1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Egyptian Chinese University (ECU)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YoPharma - Clinical Pharmacy Intelligence Platform</dc:title>
  <dc:subject>YoPharma Platform Overview</dc:subject>
  <dc:creator>Youssef Mohamed</dc:creator>
  <cp:lastModifiedBy>Youssef Mohamed</cp:lastModifiedBy>
  <cp:revision>1</cp:revision>
  <dcterms:created xsi:type="dcterms:W3CDTF">2026-09-03T16:50:22Z</dcterms:created>
  <dcterms:modified xsi:type="dcterms:W3CDTF">2026-09-03T16:50:22Z</dcterms:modified>
</cp:coreProperties>
</file>