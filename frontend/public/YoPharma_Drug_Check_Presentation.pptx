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315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FACULTY OF PHARMACY — EGYPTIAN CHINESE UNIVERSITY (ECU)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YoPharma Drug Check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9F6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"Search it. Understand it. Compare it. Check it."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60604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Evidence-Based Clinical Pharmacy Decision Support Platform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المرجع الصيدلاني السريري الذكي لفحص الروشتات، التداخلات، والبدائل في مصر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14400" y="347472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36118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" y="388620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PharmaMind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347472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36118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17720" y="388620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 Innovation &amp; AI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63840" y="347472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92440" y="36118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92440" y="388620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Faculty of Pharmacy • ECU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846320"/>
            <a:ext cx="10241280" cy="1280160"/>
          </a:xfrm>
          <a:prstGeom prst="roundRect">
            <a:avLst>
              <a:gd name="adj" fmla="val 7143"/>
            </a:avLst>
          </a:prstGeom>
          <a:solidFill>
            <a:srgbClr val="134E4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5029200"/>
            <a:ext cx="9692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Platform Capabilities: </a:t>
            </a:r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Multi-Drug Triage  •  Food-Drug Timing Schedules  •  22 Clinical Biomarkers Evaluator  •  Egyptian Generic Equivalents Directory  •  Chronic Disease Contraindications  •  Multi-Model AI Failover Architecture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Problem: Fragmented Clinical Information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4389120" cy="5029200"/>
          </a:xfrm>
          <a:prstGeom prst="roundRect">
            <a:avLst>
              <a:gd name="adj" fmla="val 2500"/>
            </a:avLst>
          </a:prstGeom>
          <a:solidFill>
            <a:srgbClr val="FEF2F2"/>
          </a:solidFill>
          <a:ln w="19050">
            <a:solidFill>
              <a:srgbClr val="FECA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173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The Clinical Reality in Pharmacy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393192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pharmacist evaluating a prescription must assess 6 crucial dimensions for every patient: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Multi-Drug Regimens (3–6 drugs per Rx)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Drug-Drug Cross Interactions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Meal Timing &amp; Food Restrictions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Comorbidity &amp; Disease Precautions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Dosage &amp; Organ Impairment Adjustments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Egyptian Market Generic Alternatives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PROBLEM: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 is scattered across 5+ disconnected reference books, foreign websites, and separate price lists — making prescription review slow, error-prone, and overwhelming.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120640" y="1234440"/>
            <a:ext cx="6492240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49240" y="141732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Disjointed Clinical Workflow: Jumping Between Screens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349240" y="1828800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0" y="1920240"/>
            <a:ext cx="5760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 Screen 1: Foreign Interaction Site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0" y="2176272"/>
            <a:ext cx="5760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US drug names only; misses Egyptian brand names and local formulations.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49240" y="2880360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2971800"/>
            <a:ext cx="5760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 Screen 2: PDF Dosage Reference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0" y="3227832"/>
            <a:ext cx="5760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manual lookups for renal (CrCl) &amp; hepatic impairment cutoff values.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349240" y="3931920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0" y="4023360"/>
            <a:ext cx="5760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📑 Screen 3: Egyptian Price Index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0" y="4279392"/>
            <a:ext cx="5760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Separated lists for trade names with no clinical interaction context.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349240" y="4983480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5074920"/>
            <a:ext cx="5760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 Result: High Cognitive Load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5330952"/>
            <a:ext cx="5760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Pharmacist spends 5–10 minutes per patient; high risk of missing subtle interactions.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PharmaMind (يوسف محمد • نور عبدالمجيد • رنا ماهر • وفاء طه • نور جمال) | ECU Faculty of Pharmacy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Traditional 8-Step Fragmented Workflow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11064240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173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Manual Prescription Audit (Time Lost: 6–10 Minutes per Patient):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1920240"/>
            <a:ext cx="1234440" cy="201168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2728" y="20574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2728" y="20756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96112" y="251460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Prescription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96112" y="31546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3–5 drugs prescribed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139696" y="1920240"/>
            <a:ext cx="1234440" cy="201168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9464" y="20574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9464" y="20756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12848" y="251460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Drug 1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Source 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12848" y="31546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indication &amp; dose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456432" y="1920240"/>
            <a:ext cx="1234440" cy="201168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86200" y="20574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86200" y="20756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29584" y="251460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Drug 2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Source B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529584" y="31546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contraindications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73168" y="1920240"/>
            <a:ext cx="1234440" cy="201168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02936" y="20574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02936" y="20756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251460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Check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846320" y="31546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up cross-reaction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089904" y="1920240"/>
            <a:ext cx="1234440" cy="201168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19672" y="20574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9672" y="20756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63056" y="251460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Food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Precautions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63056" y="31546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Meal timing instructions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406640" y="1920240"/>
            <a:ext cx="1234440" cy="201168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36408" y="20574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36408" y="20756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79792" y="251460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Disease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479792" y="31546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CKD / HTN / Liver check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723376" y="1920240"/>
            <a:ext cx="1234440" cy="201168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53144" y="20574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53144" y="20756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796528" y="251460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Egyptian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796528" y="31546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missing generics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040112" y="1920240"/>
            <a:ext cx="1234440" cy="201168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469880" y="2057400"/>
            <a:ext cx="365760" cy="36576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469880" y="20756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113264" y="251460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113264" y="31546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advice to patient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10515600" cy="1737360"/>
          </a:xfrm>
          <a:prstGeom prst="roundRect">
            <a:avLst>
              <a:gd name="adj" fmla="val 5263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05840" y="4343400"/>
            <a:ext cx="10149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🚨  Critical Consequences of the Fragmented Workflow: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Severe Time Penalty: </a:t>
            </a:r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Pharmacists in busy community dispensaries lack 10 minutes per prescription, forcing rushed decisions.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Dangerous Blind Spots: </a:t>
            </a:r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interactions (e.g. dairy chelation) and subtle chronic contraindications are often skipped.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Economic Friction: </a:t>
            </a:r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leave when a brand is out of stock because finding registered Egyptian alternatives is too slow.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PharmaMind (يوسف محمد • نور عبدالمجيد • رنا ماهر • وفاء طه • نور جمال) | ECU Faculty of Pharmacy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Solution: YoPharma Drug Check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134E4A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"One unified platform to explore the medication, understand its risks,</a:t>
            </a:r>
            <a:endParaRPr lang="en-US" sz="15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alternatives, and check the complete regimen in seconds."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2651760" cy="3657600"/>
          </a:xfrm>
          <a:prstGeom prst="roundRect">
            <a:avLst>
              <a:gd name="adj" fmla="val 3448"/>
            </a:avLst>
          </a:prstGeom>
          <a:solidFill>
            <a:srgbClr val="F0FDFA"/>
          </a:solidFill>
          <a:ln w="15240">
            <a:solidFill>
              <a:srgbClr val="99F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Medication Lookup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74904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Egyptian Trade name or active ingredient. Instant autocomplete with sub-millisecond RAM response.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83280" y="2606040"/>
            <a:ext cx="2651760" cy="3657600"/>
          </a:xfrm>
          <a:prstGeom prst="roundRect">
            <a:avLst>
              <a:gd name="adj" fmla="val 3448"/>
            </a:avLst>
          </a:prstGeom>
          <a:solidFill>
            <a:srgbClr val="EFF6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66160" y="31089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Pharmacological Risks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374904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Explains pharmacokinetic &amp; pharmacodynamic mechanisms with solid color-coded severity triage (🔴/🟠/🔵).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7920" y="2606040"/>
            <a:ext cx="2651760" cy="3657600"/>
          </a:xfrm>
          <a:prstGeom prst="roundRect">
            <a:avLst>
              <a:gd name="adj" fmla="val 3448"/>
            </a:avLst>
          </a:prstGeom>
          <a:solidFill>
            <a:srgbClr val="FFFBEB"/>
          </a:solidFill>
          <a:ln w="15240">
            <a:solidFill>
              <a:srgbClr val="FDE6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400800" y="31089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Egyptian Generic Equivalents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374904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chemical matching across Egyptian brands with verified manufacturers and 3-tier price categorization.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52560" y="2606040"/>
            <a:ext cx="2651760" cy="3657600"/>
          </a:xfrm>
          <a:prstGeom prst="roundRect">
            <a:avLst>
              <a:gd name="adj" fmla="val 3448"/>
            </a:avLst>
          </a:prstGeom>
          <a:solidFill>
            <a:srgbClr val="ECFDF5"/>
          </a:solidFill>
          <a:ln w="15240">
            <a:solidFill>
              <a:srgbClr val="A7F3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3544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235440" y="31089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Multi-Drug Regimen Triage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235440" y="374904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2 to 10+ medications simultaneously for cross-interactions, meal timing, and comorbidity safety.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PharmaMind (يوسف محمد • نور عبدالمجيد • رنا ماهر • وفاء طه • نور جمال) | ECU Faculty of Pharmacy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Drug Check Works: 5-Step Streamlined Workflow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11064240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54480"/>
            <a:ext cx="2011680" cy="438912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PHASE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14400" y="251460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&amp; Add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154680"/>
            <a:ext cx="17373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Egyptian trade name or generic INN with "/" shortcut. Instant suggestion dropdown.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35224" y="1554480"/>
            <a:ext cx="2011680" cy="438912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2384" y="17373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072384" y="22402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PRESCRIPTION QUEUE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072384" y="251460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Regimen Tray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72384" y="3154680"/>
            <a:ext cx="17373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Medications are organized in an active prescription queue with one-click removal and dosage forms.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93208" y="1554480"/>
            <a:ext cx="2011680" cy="438912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0368" y="17373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230368" y="22402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PROFILE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230368" y="251460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Patient Comorbidities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30368" y="3154680"/>
            <a:ext cx="17373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chronic conditions: Hypertension, Type 2 Diabetes, CKD, Hepatic, Asthma, Pregnancy.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251192" y="1554480"/>
            <a:ext cx="2011680" cy="438912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254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88352" y="17373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388352" y="22402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&amp; RAM ENGINE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388352" y="251460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Clinical Triage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88352" y="3154680"/>
            <a:ext cx="17373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simultaneously analyzes Drug-Drug, Food Timing, Chronic contraindications, and Alternatives.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409176" y="1554480"/>
            <a:ext cx="2011680" cy="438912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46336" y="17373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9546336" y="22402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OUTPUT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9546336" y="251460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Guidance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546336" y="3154680"/>
            <a:ext cx="17373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Pharmacist gets color-coded severity (🔴/🟠/🔵), mechanism explanation, and spacing recommendations.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PharmaMind (يوسف محمد • نور عبدالمجيد • رنا ماهر • وفاء طه • نور جمال) | ECU Faculty of Pharmacy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Clinical Workbench: Single-Screen Command Center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4023360" cy="502920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173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 Single-Screen Productivity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tools force pharmacists to click between tabs and reload pages.
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YoPharma Clinical Workbench brings the ENTIRE workflow into a unified dual-pane screen:
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Active Prescription Tray on the Left
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Real-Time Triage Matrix on the Right
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Instant Monograph Inspector Drawer
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In-place Egyptian Generic Selector
</a:t>
            </a:r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Zero page switching, zero lost context, and instantaneous triage updates.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234440"/>
            <a:ext cx="6858000" cy="5029200"/>
          </a:xfrm>
          <a:prstGeom prst="roundRect">
            <a:avLst>
              <a:gd name="adj" fmla="val 1818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371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  Workbench UI Callout Map (Annotated Zones):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983480" y="178308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189280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Command Search Bar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120640" y="2130552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brand / INN or press [/] hotkey. Real-time autocomplete suggestions.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229600" y="178308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189280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Prescription Tray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366760" y="2130552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drug list with quantity badge, dosage form, and one-click remove [✕].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983480" y="320040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9050">
            <a:solidFill>
              <a:srgbClr val="BE12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0" y="331012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Comorbidity Selector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20640" y="3547872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Checkboxes for Hypertension, Type 2 Diabetes, CKD, Hepatic, Asthma, Pregnancy.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229600" y="320040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66760" y="331012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 Drug-Drug Matrix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366760" y="3547872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Color-coded severity cards (🔴 High / 🟠 Mod / 🔵 Minor) with clinical management.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983480" y="461772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0" y="472744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 Food &amp; Meal Schedule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120640" y="4965192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Chronological timeline (Empty stomach vs with food) + Prohibited food warnings.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29600" y="461772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472744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 Egyptian Alternatives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366760" y="4965192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equivalent brand table with manufacturers and economy/premium pricing.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PharmaMind (يوسف محمد • نور عبدالمجيد • رنا ماهر • وفاء طه • نور جمال) | ECU Faculty of Pharmacy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Deep Dive: 6 Core Clinical Modules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EF2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17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  Drug-Drug Checker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Cross-interaction matrix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CYP450 enzyme pathways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Pharmacokinetic triage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Actionable spacing guidance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97680" y="123444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417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🍽️  Food &amp; Meal Timing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80560" y="1783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Meal schedule (pre/post food)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Dairy &amp; calcium chelation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Grapefruit CYP3A4 alerts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Potassium rich food warnings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46720" y="123444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0FD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1417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🫀  22 Biomarkers &amp; Vitals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0" y="1783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22 lab tests (eGFR, INR, HbA1c)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Interactive digital evaluator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Normal range comparison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Instant clinical diagnosis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CFDF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931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🇪🇬  Egyptian Alternatives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42976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Chemical INN matching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pharma manufacturers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3-tier price categorization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Verified market availability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97680" y="374904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FF1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3931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Chronic Disease Safety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80560" y="42976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HTN, Diabetes, CKD, Liver, Asthma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Contraindication classification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Renal dose adjustment (CrCl)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Pregnancy/lactation safety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46720" y="374904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3931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Side-by-Side Matrix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0" y="42976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Direct head-to-head compare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Ingredients &amp; dosage forms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Adverse reaction profiles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Clinical preference verdict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PharmaMind (يوسف محمد • نور عبدالمجيد • رنا ماهر • وفاء طه • نور جمال) | ECU Faculty of Pharmacy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Clinical Example: Multi-Drug Patient Case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4023360" cy="502920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173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Patient Prescription Case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Profile: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62-year-old male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Comorbidities: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Hypertension + CKD (Stage 3, eGFR = 38 mL/min)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Prescription Regimen: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Ciprofloxacin 500mg Tablets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Antinal 200mg Capsules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Concor 5mg Tablets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YoPharma Detects Instantly: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 evaluates Drug-Drug, Food, and Chronic risks simultaneously in &lt; 1 second.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1234440"/>
            <a:ext cx="6858000" cy="50292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173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 Automated Triage Output &amp; Action Plan: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983480" y="1828800"/>
            <a:ext cx="6400800" cy="1280160"/>
          </a:xfrm>
          <a:prstGeom prst="roundRect">
            <a:avLst>
              <a:gd name="adj" fmla="val 5714"/>
            </a:avLst>
          </a:prstGeom>
          <a:solidFill>
            <a:srgbClr val="FEF2F2"/>
          </a:solidFill>
          <a:ln w="15240">
            <a:solidFill>
              <a:srgbClr val="FECA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66360" y="1938528"/>
            <a:ext cx="6035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 HIGH RISK DRUG-DRUG INTERACTION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166360" y="214884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Ciprofloxacin ↔ Antinal (Nifuroxazide)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66360" y="2423160"/>
            <a:ext cx="6035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Mechanism: Intestinal chelation and altered flora absorption.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Management: Separate administration times by at least 2 hours to prevent antibiotic treatment failure.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983480" y="3246120"/>
            <a:ext cx="6400800" cy="1280160"/>
          </a:xfrm>
          <a:prstGeom prst="roundRect">
            <a:avLst>
              <a:gd name="adj" fmla="val 5714"/>
            </a:avLst>
          </a:prstGeom>
          <a:solidFill>
            <a:srgbClr val="FFFBEB"/>
          </a:solidFill>
          <a:ln w="15240">
            <a:solidFill>
              <a:srgbClr val="FDE6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66360" y="3355848"/>
            <a:ext cx="6035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🍽️ DIETARY RESTRICTION ALERT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166360" y="356616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Ciprofloxacin + Dairy / Calcium Products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66360" y="3840480"/>
            <a:ext cx="6035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Mechanism: Calcium ions bind fluoroquinolones in the gut, reducing bio-availability by up to 75%.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Management: Instruct patient to take on empty stomach (1h before or 2h after dairy).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983480" y="4663440"/>
            <a:ext cx="6400800" cy="1280160"/>
          </a:xfrm>
          <a:prstGeom prst="roundRect">
            <a:avLst>
              <a:gd name="adj" fmla="val 5714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66360" y="4773168"/>
            <a:ext cx="6035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CHRONIC RENAL CONTRAINDICATION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166360" y="498348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Ciprofloxacin in Chronic Kidney Disease (CKD Stage 3)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5257800"/>
            <a:ext cx="6035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Mechanism: Renal clearance reduced; risk of central nervous system toxicity and QT prolongation.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Management: Reduce dose by 50% (250mg q12h) or monitor serum creatinine closely.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PharmaMind (يوسف محمد • نور عبدالمجيد • رنا ماهر • وفاء طه • نور جمال) | ECU Faculty of Pharmacy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Egyptian Pharmacy Value Proposition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173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Trade Name Recognition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Foreign clinical checkers only know generic US names. YoPharma indexes over 15,000 Egyptian registered brands (e.g. Concor, Cataflam, Antinal, Hibiotic, Curam).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23444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55080" y="14173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355080" y="17830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Alternatives in Shortages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55080" y="224028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an imported drug is unavailable, YoPharma identifies equivalent Egyptian manufactured brands sharing the exact chemical INN.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9319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77240" y="42976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3-Tier Economic Transparency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475488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Categorizes equivalents into Economy (رخيص), Moderate (متوسط), and Premium (مرتفع) to help pharmacists support patients with financial constraints.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26480" y="374904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39319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55080" y="42976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Bilingual Clinical Alignment (AR/EN)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55080" y="475488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mechanisms in English for doctor/pharmacist alignment; patient counseling instructions in clear Arabic for dispensing counters.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PharmaMind (يوسف محمد • نور عبدالمجيد • رنا ماهر • وفاء طه • نور جمال) | ECU Faculty of Pharmacy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&amp; AI Architecture Pipeline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11064240" cy="5029200"/>
          </a:xfrm>
          <a:prstGeom prst="roundRect">
            <a:avLst>
              <a:gd name="adj" fmla="val 2182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17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Multi-Tier Resilient System Architecture: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1920240"/>
            <a:ext cx="1600200" cy="1920240"/>
          </a:xfrm>
          <a:prstGeom prst="roundRect">
            <a:avLst>
              <a:gd name="adj" fmla="val 4571"/>
            </a:avLst>
          </a:prstGeom>
          <a:solidFill>
            <a:srgbClr val="1E293B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1031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User Input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260604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Pharmacist enters prescription / vitals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0" y="1920240"/>
            <a:ext cx="1600200" cy="1920240"/>
          </a:xfrm>
          <a:prstGeom prst="roundRect">
            <a:avLst>
              <a:gd name="adj" fmla="val 4571"/>
            </a:avLst>
          </a:prstGeom>
          <a:solidFill>
            <a:srgbClr val="1E293B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21031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Frontend (React 18)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51760" y="260604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RAM cache check (0ms response)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920240"/>
            <a:ext cx="1600200" cy="1920240"/>
          </a:xfrm>
          <a:prstGeom prst="roundRect">
            <a:avLst>
              <a:gd name="adj" fmla="val 4571"/>
            </a:avLst>
          </a:prstGeom>
          <a:solidFill>
            <a:srgbClr val="1E293B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21031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Server Cache Layer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389120" y="260604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RAM Cache (&lt;1ms response)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920240"/>
            <a:ext cx="1600200" cy="1920240"/>
          </a:xfrm>
          <a:prstGeom prst="roundRect">
            <a:avLst>
              <a:gd name="adj" fmla="val 4571"/>
            </a:avLst>
          </a:prstGeom>
          <a:solidFill>
            <a:srgbClr val="1E293B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21031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AI Rotation Engine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126480" y="260604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3.5 Flash ➔ Flash Lite ➔ 3.6 Flash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772400" y="1920240"/>
            <a:ext cx="1600200" cy="1920240"/>
          </a:xfrm>
          <a:prstGeom prst="roundRect">
            <a:avLst>
              <a:gd name="adj" fmla="val 4571"/>
            </a:avLst>
          </a:prstGeom>
          <a:solidFill>
            <a:srgbClr val="1E293B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0" y="21031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Structured Database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863840" y="260604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PostgreSQL + Egyptian Drug DB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509760" y="1920240"/>
            <a:ext cx="1600200" cy="1920240"/>
          </a:xfrm>
          <a:prstGeom prst="roundRect">
            <a:avLst>
              <a:gd name="adj" fmla="val 4571"/>
            </a:avLst>
          </a:prstGeom>
          <a:solidFill>
            <a:srgbClr val="1E293B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1031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Clinical Output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601200" y="260604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Severity triage &amp; pharmacist advice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2960" y="4114800"/>
            <a:ext cx="10515600" cy="1828800"/>
          </a:xfrm>
          <a:prstGeom prst="roundRect">
            <a:avLst>
              <a:gd name="adj" fmla="val 5000"/>
            </a:avLst>
          </a:prstGeom>
          <a:solidFill>
            <a:srgbClr val="134E4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5840" y="4251960"/>
            <a:ext cx="10149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What AI Does vs What Structured Database Does (Honest Demarcation):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Structured Database &amp; Cache: </a:t>
            </a:r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Egyptian brand mappings, exact prices, active chemical ingredients, and normal lab ranges deterministically.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Reasoning Engine: </a:t>
            </a:r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Synthesizes complex multi-drug pharmacokinetics, evaluates non-obvious CYP interactions, and drafts clear bilingual explanations.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Multi-Model Failover: </a:t>
            </a:r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Guarantees 99.9% uptime by automatically rotating fallback models if API quotas or network latency thresholds are hit.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PharmaMind (يوسف محمد • نور عبدالمجيد • رنا ماهر • وفاء طه • نور جمال) | ECU Faculty of Pharmacy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Clinical, Educational &amp; Societal Impact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F0FD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173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🏪  Community Pharmacists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82880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80% faster prescription safety verification.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Instant finding of in-stock generic alternatives.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Prevention of dispensing errors and liability.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26480" y="123444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4173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🏥  Hospital &amp; Clinical Pharmacists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55080" y="182880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Multi-drug ward round regimen audits.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Renal (CrCl) &amp; hepatic dose adjustments.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Monitoring of high-risk drug-drug combinations.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74904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9319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 Pharmacy Students (ECU)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434340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Interactive training for OSCE clinical exams.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Pharmacology case study simulation.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Bridging academic theory with Egyptian practice.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374904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ECFDF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39319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🩺  Patients &amp; Public Health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55080" y="434340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Prevention of toxicities and hospital readmissions.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Affordable medicine options via price tiers.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Clear patient adherence instructions.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PharmaMind (يوسف محمد • نور عبدالمجيد • رنا ماهر • وفاء طه • نور جمال) | ECU Faculty of Pharmacy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315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CONTRIBUTORS &amp; ACADEMIC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YoPharma Drug Check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914400" y="19659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99F6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"Search it. Understand it. Compare it. Check it."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914400" y="2560320"/>
            <a:ext cx="10332720" cy="3474720"/>
          </a:xfrm>
          <a:prstGeom prst="roundRect">
            <a:avLst>
              <a:gd name="adj" fmla="val 315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2743200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فريق العمل المشارك في تطوير وتصميم المنصة (Team PharmaMind):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188720" y="3200400"/>
            <a:ext cx="4663440" cy="73152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2918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يوسف محمد (Youssef Mohamed)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71600" y="356616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Architecture &amp; AI Integration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126480" y="3200400"/>
            <a:ext cx="4663440" cy="73152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32918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نور عبدالمجيد (Nour Abdelmageed)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09360" y="356616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Pharmacy Research &amp; Interaction Matrix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188720" y="4069080"/>
            <a:ext cx="4663440" cy="73152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416052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رنا ماهر (Rana Maher)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71600" y="44348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Drug Database Curation &amp; Egyptian Generics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26480" y="4069080"/>
            <a:ext cx="4663440" cy="73152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416052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وفاء طه (Wafaa Taha)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09360" y="44348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Biomarkers &amp; Clinical Lab Normal Ranges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188720" y="4937760"/>
            <a:ext cx="4663440" cy="73152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50292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نور جمال (Nour Gamal)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371600" y="530352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Food-Drug Interactions &amp; Dietary Guidelines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188720" y="5623560"/>
            <a:ext cx="9784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Faculty of Pharmacy — Egyptian Chinese University (ECU) • كلية الصيدلة بالجامعة المصرية الصينية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Egyptian Chinese University (ECU)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YoPharma Drug Check - Competition Presentation</dc:title>
  <dc:subject>Pharmacy Innovation &amp; AI Competition</dc:subject>
  <dc:creator>Team PharmaMind</dc:creator>
  <cp:lastModifiedBy>Team PharmaMind</cp:lastModifiedBy>
  <cp:revision>1</cp:revision>
  <dcterms:created xsi:type="dcterms:W3CDTF">2026-09-03T17:34:40Z</dcterms:created>
  <dcterms:modified xsi:type="dcterms:W3CDTF">2026-09-03T17:34:40Z</dcterms:modified>
</cp:coreProperties>
</file>