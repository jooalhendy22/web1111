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Drug Check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9F6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"Search it. Understand it. Compare it. Check it."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Evidence-Based Clinical Pharmacy Decision Support Platform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المرجع الصيدلاني السريري الذكي لفحص الروشتات، التداخلات، والبدائل في مصر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347472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6118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" y="3886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PharmaMind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347472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6118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3886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347472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36118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92440" y="388620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of Pharmacy • ECU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846320"/>
            <a:ext cx="10241280" cy="1280160"/>
          </a:xfrm>
          <a:prstGeom prst="roundRect">
            <a:avLst>
              <a:gd name="adj" fmla="val 7143"/>
            </a:avLst>
          </a:prstGeom>
          <a:solidFill>
            <a:srgbClr val="134E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502920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Platform Capabilities: 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Multi-Drug Triage  •  Food-Drug Timing Schedules  •  22 Clinical Biomarkers Evaluator  •  Egyptian Generic Equivalents Directory  •  Chronic Disease Contraindications  •  Multi-Model AI Failover Architecture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Problem: Fragmented Clinical Information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4389120" cy="5029200"/>
          </a:xfrm>
          <a:prstGeom prst="roundRect">
            <a:avLst>
              <a:gd name="adj" fmla="val 2500"/>
            </a:avLst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The Clinical Reality in Pharmacy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39319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pharmacist evaluating a prescription must assess 6 crucial dimensions for every patient: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Multi-Drug Regimens (3–6 drugs per Rx)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Drug-Drug Cross Interactions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Meal Timing &amp; Food Restrictions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Comorbidity &amp; Disease Precautions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Dosage &amp; Organ Impairment Adjustments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Egyptian Market Generic Alternatives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PROBLEM: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is scattered across 5+ disconnected reference books, foreign websites, and separate price lists — making prescription review slow, error-prone, and overwhelming.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120640" y="1234440"/>
            <a:ext cx="649224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141732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Disjointed Clinical Workflow: Jumping Between Screens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49240" y="182880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1920240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Screen 1: Foreign Interaction Site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0" y="217627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US drug names only; misses Egyptian brand names and local formulations.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49240" y="288036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971800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 Screen 2: PDF Dosage Reference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0" y="322783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manual lookups for renal (CrCl) &amp; hepatic impairment cutoff values.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49240" y="393192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4023360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📑 Screen 3: Egyptian Price Index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427939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Separated lists for trade names with no clinical interaction context.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349240" y="498348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5074920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Result: High Cognitive Load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533095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 spends 5–10 minutes per patient; high risk of missing subtle interactions.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Traditional 8-Step Fragmented Workflow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1106424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Manual Prescription Audit (Time Lost: 6–10 Minutes per Patient):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2728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2728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96112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drugs prescribed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139696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9464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9464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12848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Drug 1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Source 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12848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indication &amp; dose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56432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86200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86200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9584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Drug 2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Source B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29584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contraindications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73168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02936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02936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Check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46320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cross-reaction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89904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19672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63056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Food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Precautions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timing instructions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406640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36408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36408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Disease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79792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CKD / HTN / Liver check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723376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53144" y="20574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53144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796528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Egyptian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796528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missing generics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040112" y="1920240"/>
            <a:ext cx="1234440" cy="201168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469880" y="2057400"/>
            <a:ext cx="365760" cy="3657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69880" y="2075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113264" y="25146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113264" y="31546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advice to patient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5840" y="4343400"/>
            <a:ext cx="10149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 Critical Consequences of the Fragmented Workflow: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Severe Time Penalty: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Pharmacists in busy community dispensaries lack 10 minutes per prescription, forcing rushed decisions.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Dangerous Blind Spots: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interactions (e.g. dairy chelation) and subtle chronic contraindications are often skipped.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Economic Friction: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leave when a brand is out of stock because finding registered Egyptian alternatives is too slow.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 YoPharma Drug Check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4E4A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"One unified platform to explore the medication, understand its risks,</a:t>
            </a:r>
            <a:endParaRPr lang="en-US" sz="15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alternatives, and check the complete regimen in seconds."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651760" cy="3657600"/>
          </a:xfrm>
          <a:prstGeom prst="roundRect">
            <a:avLst>
              <a:gd name="adj" fmla="val 3448"/>
            </a:avLst>
          </a:prstGeom>
          <a:solidFill>
            <a:srgbClr val="F0FDFA"/>
          </a:solidFill>
          <a:ln w="1524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Medication Lookup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Egyptian Trade name or active ingredient. Instant autocomplete with sub-millisecond RAM response.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606040"/>
            <a:ext cx="2651760" cy="3657600"/>
          </a:xfrm>
          <a:prstGeom prst="roundRect">
            <a:avLst>
              <a:gd name="adj" fmla="val 3448"/>
            </a:avLst>
          </a:prstGeom>
          <a:solidFill>
            <a:srgbClr val="EFF6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66160" y="31089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Pharmacological Risks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pharmacokinetic &amp; pharmacodynamic mechanisms with solid color-coded severity triage (🔴/🟠/🔵).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2606040"/>
            <a:ext cx="2651760" cy="3657600"/>
          </a:xfrm>
          <a:prstGeom prst="roundRect">
            <a:avLst>
              <a:gd name="adj" fmla="val 3448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0" y="31089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Generic Equivalents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chemical matching across Egyptian brands with verified manufacturers and 3-tier price categorization.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52560" y="2606040"/>
            <a:ext cx="2651760" cy="3657600"/>
          </a:xfrm>
          <a:prstGeom prst="roundRect">
            <a:avLst>
              <a:gd name="adj" fmla="val 3448"/>
            </a:avLst>
          </a:prstGeom>
          <a:solidFill>
            <a:srgbClr val="ECFDF5"/>
          </a:solidFill>
          <a:ln w="15240">
            <a:solidFill>
              <a:srgbClr val="A7F3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235440" y="31089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Multi-Drug Regimen Triage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23544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2 to 10+ medications simultaneously for cross-interactions, meal timing, and comorbidity safety.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Drug Check Works: 5-Step Streamlined Workflow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1106424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PHASE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&amp; Add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Egyptian trade name or generic INN with "/" shortcut. Instant suggestion dropdown.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35224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072384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QUEUE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072384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Regimen Tray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72384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Medications are organized in an active prescription queue with one-click removal and dosage forms.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93208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230368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PROFILE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230368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Patient Comorbidities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30368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chronic conditions: Hypertension, Type 2 Diabetes, CKD, Hepatic, Asthma, Pregnancy.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51192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8352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388352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RAM ENGINE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88352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Clinical Triage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88352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simultaneously analyzes Drug-Drug, Food Timing, Chronic contraindications, and Alternatives.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409176" y="1554480"/>
            <a:ext cx="2011680" cy="438912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46336" y="17373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546336" y="22402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OUTPUT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546336" y="2514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Guidance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546336" y="3154680"/>
            <a:ext cx="1737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 gets color-coded severity (🔴/🟠/🔵), mechanism explanation, and spacing recommendations.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Clinical Workbench: Single-Screen Command Center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4023360" cy="502920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Single-Screen Productivity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tools force pharmacists to click between tabs and reload pages.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YoPharma Clinical Workbench brings the ENTIRE workflow into a unified dual-pane screen: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Prescription Tray on the Left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Triage Matrix on the Right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Monograph Inspector Drawer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In-place Egyptian Generic Selector
</a:t>
            </a:r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Zero page switching, zero lost context, and instantaneous triage updates.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234440"/>
            <a:ext cx="6858000" cy="5029200"/>
          </a:xfrm>
          <a:prstGeom prst="roundRect">
            <a:avLst>
              <a:gd name="adj" fmla="val 181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371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 Workbench UI Callout Map (Annotated Zones):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83480" y="178308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189280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Command Search Bar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120640" y="213055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brand / INN or press [/] hotkey. Real-time autocomplete suggestions.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229600" y="178308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189280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Prescription Tray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66760" y="213055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drug list with quantity badge, dosage form, and one-click remove [✕].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983480" y="320040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BE12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331012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Comorbidity Selector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20640" y="354787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Checkboxes for Hypertension, Type 2 Diabetes, CKD, Hepatic, Asthma, Pregnancy.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229600" y="320040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66760" y="331012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Drug-Drug Matrix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66760" y="354787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Color-coded severity cards (🔴 High / 🟠 Mod / 🔵 Minor) with clinical management.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983480" y="461772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472744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Food &amp; Meal Schedule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120640" y="496519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Chronological timeline (Empty stomach vs with food) + Prohibited food warnings.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29600" y="461772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472744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Egyptian Alternatives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366760" y="4965192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equivalent brand table with manufacturers and economy/premium pricing.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Deep Dive: 6 Core Clinical Modules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EF2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 Drug-Drug Checker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Cross-interaction matrix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CYP450 enzyme pathways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Pharmacokinetic triage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Actionable spacing guidance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2344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🍽️  Food &amp; Meal Timing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0560" y="1783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Meal schedule (pre/post food)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Dairy &amp; calcium chelation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Grapefruit CYP3A4 alerts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Potassium rich food warnings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2344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🫀  22 Biomarkers &amp; Vitals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0" y="1783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22 lab tests (eGFR, INR, HbA1c)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digital evaluator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Normal range comparison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clinical diagnosis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CFDF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🇪🇬  Egyptian Alternatives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2976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Chemical INN matching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pharma manufacturers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3-tier price categorization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Verified market availability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37490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Chronic Disease Safety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42976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HTN, Diabetes, CKD, Liver, Asthma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Contraindication classification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Renal dose adjustment (CrCl)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Pregnancy/lactation safety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46720" y="374904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Side-by-Side Matrix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42976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head-to-head compare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Ingredients &amp; dosage forms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Adverse reaction profiles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Clinical preference verdict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Clinical Example: Multi-Drug Patient Case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4023360" cy="502920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Patient Prescription Case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Profile: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62-year-old male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Comorbidities: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Hypertension + CKD (Stage 3, eGFR = 38 mL/min)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Regimen: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Ciprofloxacin 500mg Tablets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Antinal 200mg Capsules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Concor 5mg Tablets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YoPharma Detects Instantly: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evaluates Drug-Drug, Food, and Chronic risks simultaneously in &lt; 1 second.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234440"/>
            <a:ext cx="6858000" cy="50292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17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Automated Triage Output &amp; Action Plan: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83480" y="1828800"/>
            <a:ext cx="6400800" cy="1280160"/>
          </a:xfrm>
          <a:prstGeom prst="roundRect">
            <a:avLst>
              <a:gd name="adj" fmla="val 5714"/>
            </a:avLst>
          </a:prstGeom>
          <a:solidFill>
            <a:srgbClr val="FEF2F2"/>
          </a:solidFill>
          <a:ln w="15240">
            <a:solidFill>
              <a:srgbClr val="FECA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1938528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HIGH RISK DRUG-DRUG INTERACTION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166360" y="214884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Ciprofloxacin ↔ Antinal (Nifuroxazide)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423160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Mechanism: Intestinal chelation and altered flora absorption.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Management: Separate administration times by at least 2 hours to prevent antibiotic treatment failure.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983480" y="3246120"/>
            <a:ext cx="640080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5240">
            <a:solidFill>
              <a:srgbClr val="FDE6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3355848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🍽️ DIETARY RESTRICTION ALERT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166360" y="356616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Ciprofloxacin + Dairy / Calcium Products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66360" y="3840480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Mechanism: Calcium ions bind fluoroquinolones in the gut, reducing bio-availability by up to 75%.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Management: Instruct patient to take on empty stomach (1h before or 2h after dairy).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983480" y="4663440"/>
            <a:ext cx="6400800" cy="1280160"/>
          </a:xfrm>
          <a:prstGeom prst="roundRect">
            <a:avLst>
              <a:gd name="adj" fmla="val 5714"/>
            </a:avLst>
          </a:prstGeom>
          <a:solidFill>
            <a:srgbClr val="FFF1F2"/>
          </a:solidFill>
          <a:ln w="15240">
            <a:solidFill>
              <a:srgbClr val="FECD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4773168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CHRONIC RENAL CONTRAINDICATION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166360" y="49834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Ciprofloxacin in Chronic Kidney Disease (CKD Stage 3)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257800"/>
            <a:ext cx="6035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Mechanism: Renal clearance reduced; risk of central nervous system toxicity and QT prolongation.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Management: Reduce dose by 50% (250mg q12h) or monitor serum creatinine closely.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Pharmacy Value Proposition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Trade Name Recognition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clinical checkers only know generic US names. YoPharma indexes over 15,000 Egyptian registered brands (e.g. Concor, Cataflam, Antinal, Hibiotic, Curam).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2344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5080" y="14173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55080" y="17830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Alternatives in Shortages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22402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imported drug is unavailable, YoPharma identifies equivalent Egyptian manufactured brands sharing the exact chemical INN.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319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4297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Economic Transparency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47548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Categorizes equivalents into Economy (رخيص), Moderate (متوسط), and Premium (مرتفع) to help pharmacists support patients with financial constraints.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37490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39319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55080" y="4297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Clinical Alignment (AR/EN)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55080" y="47548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mechanisms in English for doctor/pharmacist alignment; patient counseling instructions in clear Arabic for dispensing counters.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AI Architecture Pipeline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11064240" cy="5029200"/>
          </a:xfrm>
          <a:prstGeom prst="roundRect">
            <a:avLst>
              <a:gd name="adj" fmla="val 2182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Multi-Tier Resilient System Architecture: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User Input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 enters prescription / vitals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Frontend (React 18)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RAM cache check (0ms response)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Server Cache Layer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8912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RAM Cache (&lt;1ms response)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AI Rotation Engine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12648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3.5 Flash ➔ Flash Lite ➔ 3.6 Flash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77240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Structured Database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384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PostgreSQL + Egyptian Drug DB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509760" y="1920240"/>
            <a:ext cx="1600200" cy="192024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03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Clinical Output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601200" y="260604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triage &amp; pharmacist advice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2960" y="4114800"/>
            <a:ext cx="10515600" cy="1828800"/>
          </a:xfrm>
          <a:prstGeom prst="roundRect">
            <a:avLst>
              <a:gd name="adj" fmla="val 5000"/>
            </a:avLst>
          </a:prstGeom>
          <a:solidFill>
            <a:srgbClr val="134E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251960"/>
            <a:ext cx="10149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What AI Does vs What Structured Database Does (Honest Demarcation):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Structured Database &amp; Cache: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Egyptian brand mappings, exact prices, active chemical ingredients, and normal lab ranges deterministically.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Reasoning Engine: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Synthesizes complex multi-drug pharmacokinetics, evaluates non-obvious CYP interactions, and drafts clear bilingual explanations.
</a:t>
            </a:r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Multi-Model Failover: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Guarantees 99.9% uptime by automatically rotating fallback models if API quotas or network latency thresholds are hit.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YOPHARMA DRUG CHECK | TEAM PHARMAMIND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Clinical, Educational &amp; Societal Impact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🏪  Community Pharmacists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80% faster prescription safety verification.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finding of in-stock generic alternatives.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Prevention of dispensing errors and liability.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26480" y="12344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🏥  Hospital &amp; Clinical Pharmacists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18288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Multi-drug ward round regimen audits.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Renal (CrCl) &amp; hepatic dose adjustments.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Monitoring of high-risk drug-drug combinations.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9319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Pharmacy Students (ECU)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43434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training for OSCE clinical exams.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Pharmacology case study simulation.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Bridging academic theory with Egyptian practice.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374904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CFDF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39319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🩺  Patients &amp; Public Health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43434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Prevention of toxicities and hospital readmissions.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Affordable medicine options via price tiers.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patient adherence instructions.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 Competition | Team PharmaMind • Egyptian Chinese University (ECU)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DEMO &amp; COMPETITION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Drug Check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9F6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"Search it. Understand it. Compare it. Check it."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914400" y="2560320"/>
            <a:ext cx="6583680" cy="3474720"/>
          </a:xfrm>
          <a:prstGeom prst="roundRect">
            <a:avLst>
              <a:gd name="adj" fmla="val 315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743200"/>
            <a:ext cx="6035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Team &amp; Competition Details: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Name: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PharmaMind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Competition Track: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Innovation &amp; AI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Lead Developer: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Mohamed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Academic Sponsor: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— Faculty of Pharmacy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Deployed URL: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https://web1111-three.vercel.app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Slide Deck: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https://web1111-three.vercel.app/presentation.html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0" y="256032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134E4A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0" y="283464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0" y="35661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TRY LIVE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5029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for Live Demo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Platform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Egyptian Chinese University (ECU)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YoPharma Drug Check - Competition Presentation</dc:title>
  <dc:subject>Pharmacy Innovation &amp; AI Competition</dc:subject>
  <dc:creator>Team PharmaMind - Youssef Mohamed</dc:creator>
  <cp:lastModifiedBy>Team PharmaMind - Youssef Mohamed</cp:lastModifiedBy>
  <cp:revision>1</cp:revision>
  <dcterms:created xsi:type="dcterms:W3CDTF">2026-09-03T17:01:28Z</dcterms:created>
  <dcterms:modified xsi:type="dcterms:W3CDTF">2026-09-03T17:01:28Z</dcterms:modified>
</cp:coreProperties>
</file>